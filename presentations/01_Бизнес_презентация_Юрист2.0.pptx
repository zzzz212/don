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A1F44"/>
                </a:solidFill>
                <a:latin typeface="Calibri"/>
              </a:rPr>
              <a:t>ЮРИСТ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AI-платформа правовой поддержки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D4AF37"/>
                </a:solidFill>
                <a:latin typeface="Calibri"/>
              </a:rPr>
              <a:t>малого и среднего бизнеса России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73152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Каждое предприятие — со своим юристом. На базе 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Хадызов Зураб Джамалаевич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Calibri"/>
              </a:rPr>
              <a:t>МГИМО  |  Факультет управления и политики  |  3 курс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Проблема российского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Юридические услуги — недоступная роскошь для МСП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43200" cy="39319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7315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E53E3E"/>
                </a:solidFill>
                <a:latin typeface="Calibri"/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малых компаний не имеют</a:t>
            </a:r>
          </a:p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штатного юриста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Услуги внешних юристов — от 5 000 ₽/час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828800"/>
            <a:ext cx="2743200" cy="39319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828800"/>
            <a:ext cx="2743200" cy="7315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377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E53E3E"/>
                </a:solidFill>
                <a:latin typeface="Calibr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74904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договоров содержат</a:t>
            </a:r>
          </a:p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скрытые риски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8463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Бизнес подписывает контракты вслепую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28800"/>
            <a:ext cx="2743200" cy="39319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828800"/>
            <a:ext cx="2743200" cy="7315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2377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E53E3E"/>
                </a:solidFill>
                <a:latin typeface="Calibri"/>
              </a:rPr>
              <a:t>3,2 трлн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74904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потери МСП от</a:t>
            </a:r>
          </a:p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недобросовестных контрагентов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8463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По данным ФССП и арбитражных судов за 2024 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28800"/>
            <a:ext cx="2743200" cy="39319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4856" y="1828800"/>
            <a:ext cx="2743200" cy="7315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2377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E53E3E"/>
                </a:solidFill>
                <a:latin typeface="Calibri"/>
              </a:rPr>
              <a:t>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374904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предпринимателей не знают</a:t>
            </a:r>
          </a:p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судебной практики по своей сфере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48463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Решения принимаются интуитивно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Наше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Юрист 2.0 — комплексная AI-платформа для бизнеса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Один сервис — все юридические задачи МСП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269748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3566160"/>
            <a:ext cx="731520" cy="7315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566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A1F44"/>
                </a:solidFill>
                <a:latin typeface="Calibri"/>
              </a:rPr>
              <a:t>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Проверка контрагентов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Скоринг рисков по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ЕГРЮЛ, КАД, ФССП,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DaData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383280"/>
            <a:ext cx="269748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3566160"/>
            <a:ext cx="731520" cy="7315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566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A1F44"/>
                </a:solidFill>
                <a:latin typeface="Calibri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48056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Анализ договоров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AI находит риски,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пробелы, ссылки на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ГК РФ и судпрактику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269748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3760" y="3566160"/>
            <a:ext cx="731520" cy="7315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566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A1F44"/>
                </a:solidFill>
                <a:latin typeface="Calibri"/>
              </a:rPr>
              <a:t>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Генерация документов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Шаблоны договоров,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исковых, претензий —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за 30 секунд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383280"/>
            <a:ext cx="2697480" cy="274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3566160"/>
            <a:ext cx="731520" cy="7315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3566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A1F44"/>
                </a:solidFill>
                <a:latin typeface="Calibri"/>
              </a:rPr>
              <a:t>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48056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База законов и практики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Онлайн-доступ к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кодексам и решениям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верховного суда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Простой путь от запроса до готового 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19456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914400" cy="9144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A1F44"/>
                </a:solidFill>
                <a:latin typeface="Calibri"/>
              </a:rPr>
              <a:t>Загрузка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Пользователь загружает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договор или вводит ИНН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3520440"/>
            <a:ext cx="274320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011680"/>
            <a:ext cx="219456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2286000"/>
            <a:ext cx="914400" cy="9144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A1F44"/>
                </a:solidFill>
                <a:latin typeface="Calibri"/>
              </a:rPr>
              <a:t>AI-анализ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2336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ИИ изучает документ: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риски, формулировки,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прецеденты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46320" y="3520440"/>
            <a:ext cx="274320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2011680"/>
            <a:ext cx="219456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0" y="2286000"/>
            <a:ext cx="914400" cy="9144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286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832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A1F44"/>
                </a:solidFill>
                <a:latin typeface="Calibri"/>
              </a:rPr>
              <a:t>Запрос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02336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Платформа делает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запросы в DaData, ЕГРЮЛ,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картотеку судов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3520440"/>
            <a:ext cx="274320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2011680"/>
            <a:ext cx="219456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286000"/>
            <a:ext cx="914400" cy="9144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286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3832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A1F44"/>
                </a:solidFill>
                <a:latin typeface="Calibri"/>
              </a:rPr>
              <a:t>Юр. оценка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02336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Привязка к статьям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ГК РФ, ТК, НК,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судебной практике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26880" y="3520440"/>
            <a:ext cx="274320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0" y="2011680"/>
            <a:ext cx="219456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2286000"/>
            <a:ext cx="914400" cy="9144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2286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3832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A1F44"/>
                </a:solidFill>
                <a:latin typeface="Calibri"/>
              </a:rPr>
              <a:t>Результат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02336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Отчёт + рекомендации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или готовый документ</a:t>
            </a:r>
          </a:p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за 30 секунд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⏱  Среднее время обработки: 30 секунд  |  💰 Экономия для бизнеса: до 90% от стоимости услуг юриста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Рынок и его потенциал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LegalTech — самая быстрорастущая ниша в России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219456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450 млрд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Объём рынка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юр.услуг РФ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2024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97480" cy="219456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CAGR LegalTech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сегмента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576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2024–2028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97480" cy="219456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6,2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субъектов МСП —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целевая аудитория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Реестр ФНС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697480" cy="219456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1031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Calibri"/>
              </a:rPr>
              <a:t>82 млрд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0175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Прогноз LegalTech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рынка России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576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к 2028 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Calibri"/>
              </a:rPr>
              <a:t>Ключевые тренды рынка: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18888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Цифровизация госуслуг: ФНС, Госуслуги, ЕГРЮЛ — открытые API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184648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Малому бизнесу нужны юридические инструменты, а не дорогие консультанты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550408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Государство стимулирует внедрение AI в B2B (нацпроект «Цифровая экономика»)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916168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Уход западных LegalTech-сервисов открыл нишу для российских решений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Целевая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Кто заплатит за продукт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429768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Малый и средний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ИП и ООО без штатного юриста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Стартапы и быстрорастущие компании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Розничная торговля, услуги,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31546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6,2 млн потенциальных клиентов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828800"/>
            <a:ext cx="3703320" cy="429768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21031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214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SECONDARY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517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Юристы-фрилансеры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6576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Частнопрактикующие юристы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069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Адвокаты до 5 лет опыта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4805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Юр. консультанты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394960"/>
            <a:ext cx="31546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532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120 000 специалистов в РФ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828800"/>
            <a:ext cx="3703320" cy="4297680"/>
          </a:xfrm>
          <a:prstGeom prst="roundRect">
            <a:avLst>
              <a:gd name="adj" fmla="val 15000"/>
            </a:avLst>
          </a:prstGeom>
          <a:solidFill>
            <a:srgbClr val="1E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0" y="21031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1214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6517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Юридические отделы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6576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Корпоративные юр. отделы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069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069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HR и compliance департаменты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4805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Закупки и тендеры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394960"/>
            <a:ext cx="31546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532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12 000 средних предприятий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SaaS подписка с тремя тарифами + B2B контракты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788920" cy="44805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A6A7A"/>
                </a:solidFill>
                <a:latin typeface="Calibr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Calibri"/>
              </a:rPr>
              <a:t>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/мес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79"/>
            <a:ext cx="1874520" cy="18288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3 проверки контрагентов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1 анализ документа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Базовая БД законов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Web-доступ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Привлечение пользователей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1737360"/>
            <a:ext cx="2788920" cy="448056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54880" y="1554480"/>
            <a:ext cx="1188720" cy="41148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57276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A1F44"/>
                </a:solidFill>
                <a:latin typeface="Calibri"/>
              </a:rPr>
              <a:t>ПОПУЛЯРНО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0116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Calibri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60604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1 990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Calibri"/>
              </a:rPr>
              <a:t>/мес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611879"/>
            <a:ext cx="18745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79476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Безлимит проверок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11480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30 анализов документов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43484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Генерация документов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75488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Полная судебная практика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074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Email поддержка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760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Основной продукт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1737360"/>
            <a:ext cx="2788920" cy="448056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0116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Calibri"/>
              </a:rPr>
              <a:t>BUSINESS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60604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9 990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Calibri"/>
              </a:rPr>
              <a:t>/мес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611879"/>
            <a:ext cx="18745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79476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794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Всё из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11480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До 5 пользователей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43484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API доступ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75488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Кастомные шаблоны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074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Персональный менеджер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760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Юр. отделы и B2B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1737360"/>
            <a:ext cx="2788920" cy="4480560"/>
          </a:xfrm>
          <a:prstGeom prst="roundRect">
            <a:avLst>
              <a:gd name="adj" fmla="val 15000"/>
            </a:avLst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20116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Calibri"/>
              </a:rPr>
              <a:t>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60604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от 50 000 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4AF37"/>
                </a:solidFill>
                <a:latin typeface="Calibri"/>
              </a:rPr>
              <a:t>/мес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3611879"/>
            <a:ext cx="18745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9720" y="379476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794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Кастомизация платформы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411480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Интеграция с CRM/ERP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443484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On-premise установка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475488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SLA 99,9%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20" y="5074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Юридический аудит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5760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Крупные корпорации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Финансовая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Прогноз на 3 года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5720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Calibri"/>
              </a:rPr>
              <a:t>Юнит-экономика (на 1 клиента PRO)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ARPU (средний чек)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0B981"/>
                </a:solidFill>
                <a:latin typeface="Calibri"/>
              </a:rPr>
              <a:t>1 990 ₽/мес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CAC (стоимость привлечения)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A1A2E"/>
                </a:solidFill>
                <a:latin typeface="Calibri"/>
              </a:rPr>
              <a:t>1 200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LTV (доход с клиента)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657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0B981"/>
                </a:solidFill>
                <a:latin typeface="Calibri"/>
              </a:rPr>
              <a:t>23 880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LTV/CAC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206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D4AF37"/>
                </a:solidFill>
                <a:latin typeface="Calibri"/>
              </a:rPr>
              <a:t>19,9×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Маржа после AI-затрат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54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0B981"/>
                </a:solidFill>
                <a:latin typeface="Calibri"/>
              </a:rPr>
              <a:t>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Окупаемость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303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0B981"/>
                </a:solidFill>
                <a:latin typeface="Calibri"/>
              </a:rPr>
              <a:t>0,6 мес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577840" cy="457200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Прогноз выручки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754880"/>
            <a:ext cx="1371600" cy="1188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12,4 млн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989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383280"/>
            <a:ext cx="1371600" cy="2560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017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67 млн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989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2027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286000"/>
            <a:ext cx="1371600" cy="3657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920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287 млн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989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2028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Чем мы отличаемся от существующих игроков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Сервис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10312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AI-анализ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828800"/>
            <a:ext cx="228600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74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Контрагенты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828800"/>
            <a:ext cx="228600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874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Генерация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828800"/>
            <a:ext cx="219456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874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Цена/мес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solidFill>
            <a:srgbClr val="D4AF3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Юрист 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286000"/>
            <a:ext cx="2103120" cy="502920"/>
          </a:xfrm>
          <a:prstGeom prst="rect">
            <a:avLst/>
          </a:prstGeom>
          <a:solidFill>
            <a:srgbClr val="D4AF3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3317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✓ Полный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286000"/>
            <a:ext cx="2286000" cy="502920"/>
          </a:xfrm>
          <a:prstGeom prst="rect">
            <a:avLst/>
          </a:prstGeom>
          <a:solidFill>
            <a:srgbClr val="D4AF3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331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✓ DaData+ЕГРЮЛ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286000"/>
            <a:ext cx="2286000" cy="502920"/>
          </a:xfrm>
          <a:prstGeom prst="rect">
            <a:avLst/>
          </a:prstGeom>
          <a:solidFill>
            <a:srgbClr val="D4AF3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331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✓ AI-генерация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286000"/>
            <a:ext cx="2194560" cy="502920"/>
          </a:xfrm>
          <a:prstGeom prst="rect">
            <a:avLst/>
          </a:prstGeom>
          <a:solidFill>
            <a:srgbClr val="D4AF3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331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от 1 990 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834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Контур.Фокус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78892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834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78892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834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✓ Только проверка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78892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834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78892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8346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от 4 800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375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СПАРК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29184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3375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29184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3375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✓ Расширенная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29184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33375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291840"/>
            <a:ext cx="219456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3375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от 12 000 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794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840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КонсультантПлюс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79476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8404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794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3840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794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840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Шаблоны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7947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8404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от 8 000 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9768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Doczilla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429768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4343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Базовый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429768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43434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4297680"/>
            <a:ext cx="22860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0" y="43434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✓ Шаблоны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4297680"/>
            <a:ext cx="219456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60" y="43434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от 2 990 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8006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46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Право.ru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80060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0" y="4846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48006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37760" y="4846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48006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60" y="4846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48006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0" y="4846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от 5 000 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💡 Уникально: единственный сервис с full-stack AI-анализом + проверкой контрагентов в одном продукте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Современная архитектура enterprise-уровня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97480" cy="5486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Calibri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Next.js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5468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5760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TypeScript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Tailwind CSS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828800"/>
            <a:ext cx="269748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828800"/>
            <a:ext cx="2697480" cy="5486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874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Calibri"/>
              </a:rPr>
              <a:t>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65176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6974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Next.js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15468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NextAuth.js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65760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Prisma 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16052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2062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PostgreSQL (Neon)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28800"/>
            <a:ext cx="269748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828800"/>
            <a:ext cx="2697480" cy="5486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874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Calibri"/>
              </a:rPr>
              <a:t>AI / 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65176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6974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Claude 4.5 Sonnet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15468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200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Gemini 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65760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7033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Groq LPU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16052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2062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Custom prompts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828800"/>
            <a:ext cx="2697480" cy="32004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1828800"/>
            <a:ext cx="2697480" cy="5486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1874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Calibri"/>
              </a:rPr>
              <a:t>Интеграции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265176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6974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DaData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315468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200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ЕГРЮЛ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365760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37033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КАД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160520"/>
            <a:ext cx="214884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2062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ФССП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Облачная инфраструктура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Vercel (CDN + Edge Functions)  ·  Neon (PostgreSQL)  ·  GitHub Actions (CI/CD)  ·  HTTPS + Auto-scaling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Дорожная карта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От MVP до лидера рынка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331720" cy="42062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Q4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60020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24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СДЕЛАНО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14173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Анализ документов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Скоринг контрагентов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База законов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Деплой в продакшен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1828800"/>
            <a:ext cx="2331720" cy="420624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103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Q1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606040"/>
            <a:ext cx="160020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2624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D4AF37"/>
                </a:solidFill>
                <a:latin typeface="Calibri"/>
              </a:rPr>
              <a:t>В РАБОТЕ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Запуск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657600"/>
            <a:ext cx="14173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8404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8404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Платная подписка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976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Интеграция эквайринга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7548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7548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Маркетинг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2120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2120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B2C продажи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1828800"/>
            <a:ext cx="2331720" cy="4206240"/>
          </a:xfrm>
          <a:prstGeom prst="roundRect">
            <a:avLst>
              <a:gd name="adj" fmla="val 15000"/>
            </a:avLst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103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Q2-Q3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2606040"/>
            <a:ext cx="160020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2624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2D6F"/>
                </a:solidFill>
                <a:latin typeface="Calibri"/>
              </a:rPr>
              <a:t>ПЛАН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Рост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657600"/>
            <a:ext cx="14173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38404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8404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Mobile-приложение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2976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API для разработчиков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7548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7548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Telegram-бот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2120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52120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Расширение БД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1828800"/>
            <a:ext cx="2331720" cy="420624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2103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Q4 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2606040"/>
            <a:ext cx="160020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2624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A1F44"/>
                </a:solidFill>
                <a:latin typeface="Calibri"/>
              </a:rPr>
              <a:t>ПЛАН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Масштаб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657600"/>
            <a:ext cx="14173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38404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8404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Корп. версия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42976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Интеграции с CRM/1C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47548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47548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Региональные представительства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52120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52120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Whitelabel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0" y="1828800"/>
            <a:ext cx="2331720" cy="4206240"/>
          </a:xfrm>
          <a:prstGeom prst="roundRect">
            <a:avLst>
              <a:gd name="adj" fmla="val 15000"/>
            </a:avLst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0" y="2103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2027+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24160" y="2606040"/>
            <a:ext cx="160020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2624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42A"/>
                </a:solidFill>
                <a:latin typeface="Calibri"/>
              </a:rPr>
              <a:t>ВИДЕНИЕ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Экспансия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3657600"/>
            <a:ext cx="141732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41280" y="38404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8404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Выход в СНГ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2976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Голосовой ассистент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47548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47548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AI-арбитраж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0" y="521208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52120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IPO подготовка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Что уже сделано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Платформа запущена в продакшен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 MVP в продакшене  |  Vercel + Neon PostgreSQL  |  Реальные API-интеграции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17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AI-анализ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74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Загрузка PDF/DOCX, извлечение рисков,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ссылки на статьи ГК РФ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83464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3063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Проверка контрагентов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74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Реальная интеграция с DaData: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данные ЕГРЮЛ, статус, фин. показатели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83464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017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Скоринг рисков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74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Алгоритм оценки надёжности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на основе 8+ факторов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63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Генерация документов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2064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AI создаёт договоры, иски,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претензии по запросу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48056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34840" y="4709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63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База российского права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12064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ГК РФ, ТК РФ, НК РФ, КоАП,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полнотекстовый поиск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80560"/>
            <a:ext cx="3611880" cy="15544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4709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663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Авторизация и тарифы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12064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JWT-аутентификация,</a:t>
            </a:r>
          </a:p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Google OAuth, FREE/PRO/BUSINESS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Команда и компетенции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Авторская разработка студента МГИМО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228600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1554480" cy="15544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0A1F44"/>
                </a:solidFill>
                <a:latin typeface="Calibri"/>
              </a:rPr>
              <a:t>ХЗ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Хадызов Зураб Джамалаевич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Calibri"/>
              </a:rPr>
              <a:t>Основатель и разработчик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МГИМО МИД России  ·  Факультет управления и политики  ·  3 курс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20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Компетенции: full-stack разработка, AI-инжиниринг, продуктовое мышление, управление проектами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Планируемые роли в команде после привлечения инвестиций: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2697480" cy="12801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Архитектура и команда</a:t>
            </a:r>
          </a:p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разработки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983480"/>
            <a:ext cx="2697480" cy="12801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5166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Юрист-эксперт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6235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Контент,</a:t>
            </a:r>
          </a:p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верификация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983480"/>
            <a:ext cx="2697480" cy="12801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5166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6235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B2B продажи,</a:t>
            </a:r>
          </a:p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партнёрства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983480"/>
            <a:ext cx="2697480" cy="12801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5166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Calibri"/>
              </a:rPr>
              <a:t>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56235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Performance, контент,</a:t>
            </a:r>
          </a:p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PR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Инвестиционная привлекательность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Чего мы ищем и что предлагаем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572000"/>
          </a:xfrm>
          <a:prstGeom prst="roundRect">
            <a:avLst>
              <a:gd name="adj" fmla="val 1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Calibri"/>
              </a:rPr>
              <a:t>Раунд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5 000 000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Calibri"/>
              </a:rPr>
              <a:t>За 15% доли в проекте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493776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Распределение средств: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Разработка и команда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4AF37"/>
                </a:solidFill>
                <a:latin typeface="Calibri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Маркетинг и привлечение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377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4AF37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Юридическая экспертиза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3492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4AF37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Инфраструктура и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760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4AF37"/>
                </a:solidFill>
                <a:latin typeface="Calibri"/>
              </a:rPr>
              <a:t>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577840" cy="457200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Calibri"/>
              </a:rPr>
              <a:t>Что получает инвестор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Х15 за 3 года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При выходе на 287 млн ₽ выручки оценка проекта — 1,5+ млрд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735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Calibr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735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Готовый MVP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639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Продукт уже в продакшене, не нужно ждать разработки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86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Calibri"/>
              </a:rPr>
              <a:t>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867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Регулируемый рынок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525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LegalTech — устойчивая ниша с барьерами для конкурентов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00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Calibri"/>
              </a:rPr>
              <a:t>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7000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Опытная команда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0657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Поддержка экспертов МГИМО: бизнес, право, политика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13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Calibri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413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Прозрачный SaaS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779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Метрики MRR, ARR, churn — всё считается и контролируется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1F44"/>
                </a:solidFill>
                <a:latin typeface="Calibri"/>
              </a:rPr>
              <a:t>Риски и их митигация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Прозрачно о возможных проблемах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37160" cy="9601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Регуляторные изменения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Изменение законодательства об AI или персональных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103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→ Юридическая команда мониторит изменения, гибкая архитектура для быстрой адаптации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2148840"/>
            <a:ext cx="868680" cy="32004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1671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СРЕДНИЙ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37160" cy="9601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Конкуренция от крупных игроков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Контур, СПАРК или Яндекс могут запустить аналог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3154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→ Скорость, нишевая специализация на МСП, более низкая цена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3200400"/>
            <a:ext cx="868680" cy="32004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32186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СРЕДНИЙ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137160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Качество AI-ответов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ИИ может допускать ошибки в юридических заключениях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206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→ Двойная проверка с реальной БД законов, дисклеймер, расширение базы прецедентов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4251960"/>
            <a:ext cx="86868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4270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НИЗКИЙ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983480"/>
            <a:ext cx="137160" cy="9601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Привлечение клиентов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Высокая стоимость привлечения B2B клиентов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5257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→ Freemium-модель, контент-маркетинг, реферальная программа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5303520"/>
            <a:ext cx="868680" cy="32004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532180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СРЕДНИЙ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Юрист 2.0  |  AI правовая платформа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510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4AF37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42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Готовы к партнёрству?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Calibri"/>
              </a:rPr>
              <a:t>Юрист 2.0 — это будущее правовой поддержки бизнеса в России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3931920" cy="822960"/>
          </a:xfrm>
          <a:prstGeom prst="roundRect">
            <a:avLst>
              <a:gd name="adj" fmla="val 1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24612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A1F44"/>
                </a:solidFill>
                <a:latin typeface="Calibri"/>
              </a:rPr>
              <a:t>ЗАПРОСИТЬ ДЕМО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Хадызов Зураб Джамалаевич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Calibri"/>
              </a:rPr>
              <a:t>Основатель проекта  ·  МГИМО МИД России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✉ 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035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z.khadyzov@my.mgimo.ru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📱  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6035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@khadyzov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🌐  Сайт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6035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yurist2.vercel.app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