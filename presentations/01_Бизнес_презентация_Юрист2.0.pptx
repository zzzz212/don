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142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0" y="4572000"/>
            <a:ext cx="3657600" cy="3657600"/>
          </a:xfrm>
          <a:prstGeom prst="ellipse">
            <a:avLst/>
          </a:prstGeom>
          <a:solidFill>
            <a:srgbClr val="142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73152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77724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0A1F44"/>
                </a:solidFill>
                <a:latin typeface="Calibri"/>
              </a:rPr>
              <a:t>ЮРИСТ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AI-платформа правовой поддержки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>
                <a:solidFill>
                  <a:srgbClr val="D4AF37"/>
                </a:solidFill>
                <a:latin typeface="Calibri"/>
              </a:rPr>
              <a:t>малого и среднего бизнеса России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297680"/>
            <a:ext cx="73152" cy="36576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976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Каждое предприятие — со своим юристом. На базе ИИ.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Хадызов Зураб Джамалаевич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D4AF37"/>
                </a:solidFill>
                <a:latin typeface="Calibri"/>
              </a:rPr>
              <a:t>МГИМО  |  Факультет управления и политики  |  3 курс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A1F44"/>
                </a:solidFill>
                <a:latin typeface="Calibri"/>
              </a:rPr>
              <a:t>Проблема российского бизнеса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A6A7A"/>
                </a:solidFill>
                <a:latin typeface="Calibri"/>
              </a:rPr>
              <a:t>Юридические услуги — недоступная роскошь для МСП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743200" cy="393192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2743200" cy="73152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1">
                <a:solidFill>
                  <a:srgbClr val="E53E3E"/>
                </a:solidFill>
                <a:latin typeface="Calibri"/>
              </a:rPr>
              <a:t>73%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49040"/>
            <a:ext cx="2377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A1A2E"/>
                </a:solidFill>
                <a:latin typeface="Calibri"/>
              </a:rPr>
              <a:t>малых компаний не имеют</a:t>
            </a:r>
          </a:p>
          <a:p>
            <a:pPr algn="ctr"/>
            <a:r>
              <a:rPr sz="1500" b="1">
                <a:solidFill>
                  <a:srgbClr val="1A1A2E"/>
                </a:solidFill>
                <a:latin typeface="Calibri"/>
              </a:rPr>
              <a:t>штатного юриста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A6A7A"/>
                </a:solidFill>
                <a:latin typeface="Calibri"/>
              </a:rPr>
              <a:t>Услуги внешних юристов — от 5 000 ₽/час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1828800"/>
            <a:ext cx="2743200" cy="393192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10712" y="1828800"/>
            <a:ext cx="2743200" cy="73152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0712" y="237744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1">
                <a:solidFill>
                  <a:srgbClr val="E53E3E"/>
                </a:solidFill>
                <a:latin typeface="Calibri"/>
              </a:rPr>
              <a:t>40%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749040"/>
            <a:ext cx="2377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A1A2E"/>
                </a:solidFill>
                <a:latin typeface="Calibri"/>
              </a:rPr>
              <a:t>договоров содержат</a:t>
            </a:r>
          </a:p>
          <a:p>
            <a:pPr algn="ctr"/>
            <a:r>
              <a:rPr sz="1500" b="1">
                <a:solidFill>
                  <a:srgbClr val="1A1A2E"/>
                </a:solidFill>
                <a:latin typeface="Calibri"/>
              </a:rPr>
              <a:t>скрытые риски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484632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A6A7A"/>
                </a:solidFill>
                <a:latin typeface="Calibri"/>
              </a:rPr>
              <a:t>Бизнес подписывает контракты вслепую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2784" y="1828800"/>
            <a:ext cx="2743200" cy="393192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72784" y="1828800"/>
            <a:ext cx="2743200" cy="73152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2784" y="237744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1">
                <a:solidFill>
                  <a:srgbClr val="E53E3E"/>
                </a:solidFill>
                <a:latin typeface="Calibri"/>
              </a:rPr>
              <a:t>3,2 трлн 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3749040"/>
            <a:ext cx="2377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A1A2E"/>
                </a:solidFill>
                <a:latin typeface="Calibri"/>
              </a:rPr>
              <a:t>потери МСП от</a:t>
            </a:r>
          </a:p>
          <a:p>
            <a:pPr algn="ctr"/>
            <a:r>
              <a:rPr sz="1500" b="1">
                <a:solidFill>
                  <a:srgbClr val="1A1A2E"/>
                </a:solidFill>
                <a:latin typeface="Calibri"/>
              </a:rPr>
              <a:t>недобросовестных контрагентов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484632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A6A7A"/>
                </a:solidFill>
                <a:latin typeface="Calibri"/>
              </a:rPr>
              <a:t>По данным ФССП и арбитражных судов за 2024 г.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34856" y="1828800"/>
            <a:ext cx="2743200" cy="393192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34856" y="1828800"/>
            <a:ext cx="2743200" cy="73152"/>
          </a:xfrm>
          <a:prstGeom prst="rect">
            <a:avLst/>
          </a:prstGeom>
          <a:solidFill>
            <a:srgbClr val="E53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34856" y="237744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200" b="1">
                <a:solidFill>
                  <a:srgbClr val="E53E3E"/>
                </a:solidFill>
                <a:latin typeface="Calibri"/>
              </a:rPr>
              <a:t>87%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17736" y="3749040"/>
            <a:ext cx="2377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A1A2E"/>
                </a:solidFill>
                <a:latin typeface="Calibri"/>
              </a:rPr>
              <a:t>предпринимателей не знают</a:t>
            </a:r>
          </a:p>
          <a:p>
            <a:pPr algn="ctr"/>
            <a:r>
              <a:rPr sz="1500" b="1">
                <a:solidFill>
                  <a:srgbClr val="1A1A2E"/>
                </a:solidFill>
                <a:latin typeface="Calibri"/>
              </a:rPr>
              <a:t>судебной практики по своей сфере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736" y="484632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A6A7A"/>
                </a:solidFill>
                <a:latin typeface="Calibri"/>
              </a:rPr>
              <a:t>Решения принимаются интуитивно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51052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Юрист 2.0  |  AI правовая платформа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05695" y="651052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D4AF37"/>
                </a:solidFill>
                <a:latin typeface="Calibr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A1F44"/>
                </a:solidFill>
                <a:latin typeface="Calibri"/>
              </a:rPr>
              <a:t>Наше решение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A6A7A"/>
                </a:solidFill>
                <a:latin typeface="Calibri"/>
              </a:rPr>
              <a:t>Юрист 2.0 — комплексная AI-платформа для бизнеса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1064240" cy="1280160"/>
          </a:xfrm>
          <a:prstGeom prst="roundRect">
            <a:avLst>
              <a:gd name="adj" fmla="val 15000"/>
            </a:avLst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Один сервис — все юридические задачи МСП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383280"/>
            <a:ext cx="2697480" cy="2743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54480" y="3566160"/>
            <a:ext cx="731520" cy="73152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54480" y="35661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0A1F44"/>
                </a:solidFill>
                <a:latin typeface="Calibri"/>
              </a:rPr>
              <a:t>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80560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A1F44"/>
                </a:solidFill>
                <a:latin typeface="Calibri"/>
              </a:rPr>
              <a:t>Проверка контрагентов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12080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A6A7A"/>
                </a:solidFill>
                <a:latin typeface="Calibri"/>
              </a:rPr>
              <a:t>Скоринг рисков по</a:t>
            </a:r>
          </a:p>
          <a:p>
            <a:pPr algn="ctr"/>
            <a:r>
              <a:rPr sz="1200" b="0">
                <a:solidFill>
                  <a:srgbClr val="5A6A7A"/>
                </a:solidFill>
                <a:latin typeface="Calibri"/>
              </a:rPr>
              <a:t>ЕГРЮЛ, КАД, ФССП,</a:t>
            </a:r>
          </a:p>
          <a:p>
            <a:pPr algn="ctr"/>
            <a:r>
              <a:rPr sz="1200" b="0">
                <a:solidFill>
                  <a:srgbClr val="5A6A7A"/>
                </a:solidFill>
                <a:latin typeface="Calibri"/>
              </a:rPr>
              <a:t>DaData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3383280"/>
            <a:ext cx="2697480" cy="2743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89120" y="3566160"/>
            <a:ext cx="731520" cy="73152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35661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0A1F44"/>
                </a:solidFill>
                <a:latin typeface="Calibri"/>
              </a:rPr>
              <a:t>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4480560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A1F44"/>
                </a:solidFill>
                <a:latin typeface="Calibri"/>
              </a:rPr>
              <a:t>Анализ договоров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5212080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A6A7A"/>
                </a:solidFill>
                <a:latin typeface="Calibri"/>
              </a:rPr>
              <a:t>AI находит риски,</a:t>
            </a:r>
          </a:p>
          <a:p>
            <a:pPr algn="ctr"/>
            <a:r>
              <a:rPr sz="1200" b="0">
                <a:solidFill>
                  <a:srgbClr val="5A6A7A"/>
                </a:solidFill>
                <a:latin typeface="Calibri"/>
              </a:rPr>
              <a:t>пробелы, ссылки на</a:t>
            </a:r>
          </a:p>
          <a:p>
            <a:pPr algn="ctr"/>
            <a:r>
              <a:rPr sz="1200" b="0">
                <a:solidFill>
                  <a:srgbClr val="5A6A7A"/>
                </a:solidFill>
                <a:latin typeface="Calibri"/>
              </a:rPr>
              <a:t>ГК РФ и судпрактику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383280"/>
            <a:ext cx="2697480" cy="2743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23760" y="3566160"/>
            <a:ext cx="731520" cy="73152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35661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0A1F44"/>
                </a:solidFill>
                <a:latin typeface="Calibri"/>
              </a:rPr>
              <a:t>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480560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A1F44"/>
                </a:solidFill>
                <a:latin typeface="Calibri"/>
              </a:rPr>
              <a:t>Генерация 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212080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A6A7A"/>
                </a:solidFill>
                <a:latin typeface="Calibri"/>
              </a:rPr>
              <a:t>Шаблоны договоров,</a:t>
            </a:r>
          </a:p>
          <a:p>
            <a:pPr algn="ctr"/>
            <a:r>
              <a:rPr sz="1200" b="0">
                <a:solidFill>
                  <a:srgbClr val="5A6A7A"/>
                </a:solidFill>
                <a:latin typeface="Calibri"/>
              </a:rPr>
              <a:t>исковых, претензий —</a:t>
            </a:r>
          </a:p>
          <a:p>
            <a:pPr algn="ctr"/>
            <a:r>
              <a:rPr sz="1200" b="0">
                <a:solidFill>
                  <a:srgbClr val="5A6A7A"/>
                </a:solidFill>
                <a:latin typeface="Calibri"/>
              </a:rPr>
              <a:t>за 30 секунд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52560" y="3383280"/>
            <a:ext cx="2697480" cy="2743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058400" y="3566160"/>
            <a:ext cx="731520" cy="73152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0" y="35661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>
                <a:solidFill>
                  <a:srgbClr val="0A1F44"/>
                </a:solidFill>
                <a:latin typeface="Calibri"/>
              </a:rPr>
              <a:t>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4480560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A1F44"/>
                </a:solidFill>
                <a:latin typeface="Calibri"/>
              </a:rPr>
              <a:t>База законов и практики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5212080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A6A7A"/>
                </a:solidFill>
                <a:latin typeface="Calibri"/>
              </a:rPr>
              <a:t>Онлайн-доступ к</a:t>
            </a:r>
          </a:p>
          <a:p>
            <a:pPr algn="ctr"/>
            <a:r>
              <a:rPr sz="1200" b="0">
                <a:solidFill>
                  <a:srgbClr val="5A6A7A"/>
                </a:solidFill>
                <a:latin typeface="Calibri"/>
              </a:rPr>
              <a:t>кодексам и решениям</a:t>
            </a:r>
          </a:p>
          <a:p>
            <a:pPr algn="ctr"/>
            <a:r>
              <a:rPr sz="1200" b="0">
                <a:solidFill>
                  <a:srgbClr val="5A6A7A"/>
                </a:solidFill>
                <a:latin typeface="Calibri"/>
              </a:rPr>
              <a:t>верховного суда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51052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Юрист 2.0  |  AI правовая платформа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05695" y="651052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D4AF37"/>
                </a:solidFill>
                <a:latin typeface="Calibr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A1F44"/>
                </a:solidFill>
                <a:latin typeface="Calibri"/>
              </a:rPr>
              <a:t>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A6A7A"/>
                </a:solidFill>
                <a:latin typeface="Calibri"/>
              </a:rPr>
              <a:t>Простой путь от запроса до готового решения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194560" cy="320040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88720" y="2286000"/>
            <a:ext cx="914400" cy="914400"/>
          </a:xfrm>
          <a:prstGeom prst="ellipse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860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D4AF37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A1F44"/>
                </a:solidFill>
                <a:latin typeface="Calibri"/>
              </a:rPr>
              <a:t>Загрузка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023360"/>
            <a:ext cx="1920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A6A7A"/>
                </a:solidFill>
                <a:latin typeface="Calibri"/>
              </a:rPr>
              <a:t>Пользователь загружает</a:t>
            </a:r>
          </a:p>
          <a:p>
            <a:pPr algn="ctr"/>
            <a:r>
              <a:rPr sz="1200" b="0">
                <a:solidFill>
                  <a:srgbClr val="5A6A7A"/>
                </a:solidFill>
                <a:latin typeface="Calibri"/>
              </a:rPr>
              <a:t>договор или вводит ИНН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606040" y="3520440"/>
            <a:ext cx="274320" cy="182880"/>
          </a:xfrm>
          <a:prstGeom prst="rightArrow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88920" y="2011680"/>
            <a:ext cx="2194560" cy="320040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2286000"/>
            <a:ext cx="914400" cy="914400"/>
          </a:xfrm>
          <a:prstGeom prst="ellipse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22860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D4AF37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38328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A1F44"/>
                </a:solidFill>
                <a:latin typeface="Calibri"/>
              </a:rPr>
              <a:t>AI-анализ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4023360"/>
            <a:ext cx="1920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A6A7A"/>
                </a:solidFill>
                <a:latin typeface="Calibri"/>
              </a:rPr>
              <a:t>ИИ изучает документ:</a:t>
            </a:r>
          </a:p>
          <a:p>
            <a:pPr algn="ctr"/>
            <a:r>
              <a:rPr sz="1200" b="0">
                <a:solidFill>
                  <a:srgbClr val="5A6A7A"/>
                </a:solidFill>
                <a:latin typeface="Calibri"/>
              </a:rPr>
              <a:t>риски, формулировки,</a:t>
            </a:r>
          </a:p>
          <a:p>
            <a:pPr algn="ctr"/>
            <a:r>
              <a:rPr sz="1200" b="0">
                <a:solidFill>
                  <a:srgbClr val="5A6A7A"/>
                </a:solidFill>
                <a:latin typeface="Calibri"/>
              </a:rPr>
              <a:t>прецеденты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46320" y="3520440"/>
            <a:ext cx="274320" cy="182880"/>
          </a:xfrm>
          <a:prstGeom prst="rightArrow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0" y="2011680"/>
            <a:ext cx="2194560" cy="320040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0" y="2286000"/>
            <a:ext cx="914400" cy="914400"/>
          </a:xfrm>
          <a:prstGeom prst="ellipse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0" y="22860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D4AF3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338328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A1F44"/>
                </a:solidFill>
                <a:latin typeface="Calibri"/>
              </a:rPr>
              <a:t>Запрос данных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4023360"/>
            <a:ext cx="1920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A6A7A"/>
                </a:solidFill>
                <a:latin typeface="Calibri"/>
              </a:rPr>
              <a:t>Платформа делает</a:t>
            </a:r>
          </a:p>
          <a:p>
            <a:pPr algn="ctr"/>
            <a:r>
              <a:rPr sz="1200" b="0">
                <a:solidFill>
                  <a:srgbClr val="5A6A7A"/>
                </a:solidFill>
                <a:latin typeface="Calibri"/>
              </a:rPr>
              <a:t>запросы в DaData, ЕГРЮЛ,</a:t>
            </a:r>
          </a:p>
          <a:p>
            <a:pPr algn="ctr"/>
            <a:r>
              <a:rPr sz="1200" b="0">
                <a:solidFill>
                  <a:srgbClr val="5A6A7A"/>
                </a:solidFill>
                <a:latin typeface="Calibri"/>
              </a:rPr>
              <a:t>картотеку судов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086600" y="3520440"/>
            <a:ext cx="274320" cy="182880"/>
          </a:xfrm>
          <a:prstGeom prst="rightArrow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269480" y="2011680"/>
            <a:ext cx="2194560" cy="320040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909560" y="2286000"/>
            <a:ext cx="914400" cy="914400"/>
          </a:xfrm>
          <a:prstGeom prst="ellipse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09560" y="22860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D4AF37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338328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A1F44"/>
                </a:solidFill>
                <a:latin typeface="Calibri"/>
              </a:rPr>
              <a:t>Юр. оценка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4023360"/>
            <a:ext cx="1920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A6A7A"/>
                </a:solidFill>
                <a:latin typeface="Calibri"/>
              </a:rPr>
              <a:t>Привязка к статьям</a:t>
            </a:r>
          </a:p>
          <a:p>
            <a:pPr algn="ctr"/>
            <a:r>
              <a:rPr sz="1200" b="0">
                <a:solidFill>
                  <a:srgbClr val="5A6A7A"/>
                </a:solidFill>
                <a:latin typeface="Calibri"/>
              </a:rPr>
              <a:t>ГК РФ, ТК, НК,</a:t>
            </a:r>
          </a:p>
          <a:p>
            <a:pPr algn="ctr"/>
            <a:r>
              <a:rPr sz="1200" b="0">
                <a:solidFill>
                  <a:srgbClr val="5A6A7A"/>
                </a:solidFill>
                <a:latin typeface="Calibri"/>
              </a:rPr>
              <a:t>судебной практике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326880" y="3520440"/>
            <a:ext cx="274320" cy="182880"/>
          </a:xfrm>
          <a:prstGeom prst="rightArrow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509760" y="2011680"/>
            <a:ext cx="2194560" cy="320040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49840" y="2286000"/>
            <a:ext cx="914400" cy="914400"/>
          </a:xfrm>
          <a:prstGeom prst="ellipse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49840" y="22860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D4AF37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6920" y="338328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A1F44"/>
                </a:solidFill>
                <a:latin typeface="Calibri"/>
              </a:rPr>
              <a:t>Результат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6920" y="4023360"/>
            <a:ext cx="1920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A6A7A"/>
                </a:solidFill>
                <a:latin typeface="Calibri"/>
              </a:rPr>
              <a:t>Отчёт + рекомендации</a:t>
            </a:r>
          </a:p>
          <a:p>
            <a:pPr algn="ctr"/>
            <a:r>
              <a:rPr sz="1200" b="0">
                <a:solidFill>
                  <a:srgbClr val="5A6A7A"/>
                </a:solidFill>
                <a:latin typeface="Calibri"/>
              </a:rPr>
              <a:t>или готовый документ</a:t>
            </a:r>
          </a:p>
          <a:p>
            <a:pPr algn="ctr"/>
            <a:r>
              <a:rPr sz="1200" b="0">
                <a:solidFill>
                  <a:srgbClr val="5A6A7A"/>
                </a:solidFill>
                <a:latin typeface="Calibri"/>
              </a:rPr>
              <a:t>за 30 секунд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577840"/>
            <a:ext cx="11064240" cy="640080"/>
          </a:xfrm>
          <a:prstGeom prst="roundRect">
            <a:avLst>
              <a:gd name="adj" fmla="val 15000"/>
            </a:avLst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D4AF37"/>
                </a:solidFill>
                <a:latin typeface="Calibri"/>
              </a:rPr>
              <a:t>⏱  Среднее время обработки: 30 секунд  |  💰 Экономия для бизнеса: до 90% от стоимости услуг юриста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651052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Юрист 2.0  |  AI правовая платформа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05695" y="651052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D4AF37"/>
                </a:solidFill>
                <a:latin typeface="Calibr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A1F44"/>
                </a:solidFill>
                <a:latin typeface="Calibri"/>
              </a:rPr>
              <a:t>Рынок и его потенциал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A6A7A"/>
                </a:solidFill>
                <a:latin typeface="Calibri"/>
              </a:rPr>
              <a:t>LegalTech — самая быстрорастущая ниша в России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697480" cy="2194560"/>
          </a:xfrm>
          <a:prstGeom prst="roundRect">
            <a:avLst>
              <a:gd name="adj" fmla="val 15000"/>
            </a:avLst>
          </a:prstGeom>
          <a:solidFill>
            <a:srgbClr val="142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2697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>
                <a:solidFill>
                  <a:srgbClr val="D4AF37"/>
                </a:solidFill>
                <a:latin typeface="Calibri"/>
              </a:rPr>
              <a:t>450 млрд 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Объём рынка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юр.услуг РФ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2024 г.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828800"/>
            <a:ext cx="2697480" cy="2194560"/>
          </a:xfrm>
          <a:prstGeom prst="roundRect">
            <a:avLst>
              <a:gd name="adj" fmla="val 15000"/>
            </a:avLst>
          </a:prstGeom>
          <a:solidFill>
            <a:srgbClr val="142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103120"/>
            <a:ext cx="2697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>
                <a:solidFill>
                  <a:srgbClr val="D4AF37"/>
                </a:solidFill>
                <a:latin typeface="Calibri"/>
              </a:rPr>
              <a:t>28%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017520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CAGR LegalTech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сегмента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365760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2024–2028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828800"/>
            <a:ext cx="2697480" cy="2194560"/>
          </a:xfrm>
          <a:prstGeom prst="roundRect">
            <a:avLst>
              <a:gd name="adj" fmla="val 15000"/>
            </a:avLst>
          </a:prstGeom>
          <a:solidFill>
            <a:srgbClr val="142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103120"/>
            <a:ext cx="2697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>
                <a:solidFill>
                  <a:srgbClr val="D4AF37"/>
                </a:solidFill>
                <a:latin typeface="Calibri"/>
              </a:rPr>
              <a:t>6,2 млн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017520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субъектов МСП —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целевая аудитория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65760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Реестр ФНС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60" y="1828800"/>
            <a:ext cx="2697480" cy="2194560"/>
          </a:xfrm>
          <a:prstGeom prst="roundRect">
            <a:avLst>
              <a:gd name="adj" fmla="val 15000"/>
            </a:avLst>
          </a:prstGeom>
          <a:solidFill>
            <a:srgbClr val="142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2103120"/>
            <a:ext cx="2697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>
                <a:solidFill>
                  <a:srgbClr val="D4AF37"/>
                </a:solidFill>
                <a:latin typeface="Calibri"/>
              </a:rPr>
              <a:t>82 млрд 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3017520"/>
            <a:ext cx="2331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Прогноз LegalTech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рынка России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365760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к 2028 г.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297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A1F44"/>
                </a:solidFill>
                <a:latin typeface="Calibri"/>
              </a:rPr>
              <a:t>Ключевые тренды рынка:</a:t>
            </a:r>
          </a:p>
        </p:txBody>
      </p:sp>
      <p:sp>
        <p:nvSpPr>
          <p:cNvPr id="23" name="Oval 22"/>
          <p:cNvSpPr/>
          <p:nvPr/>
        </p:nvSpPr>
        <p:spPr>
          <a:xfrm>
            <a:off x="640080" y="4818888"/>
            <a:ext cx="137160" cy="13716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Цифровизация госуслуг: ФНС, Госуслуги, ЕГРЮЛ — открытые API</a:t>
            </a:r>
          </a:p>
        </p:txBody>
      </p:sp>
      <p:sp>
        <p:nvSpPr>
          <p:cNvPr id="25" name="Oval 24"/>
          <p:cNvSpPr/>
          <p:nvPr/>
        </p:nvSpPr>
        <p:spPr>
          <a:xfrm>
            <a:off x="640080" y="5184648"/>
            <a:ext cx="137160" cy="13716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120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Малому бизнесу нужны юридические инструменты, а не дорогие консультанты</a:t>
            </a:r>
          </a:p>
        </p:txBody>
      </p:sp>
      <p:sp>
        <p:nvSpPr>
          <p:cNvPr id="27" name="Oval 26"/>
          <p:cNvSpPr/>
          <p:nvPr/>
        </p:nvSpPr>
        <p:spPr>
          <a:xfrm>
            <a:off x="640080" y="5550408"/>
            <a:ext cx="137160" cy="13716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4864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Государство стимулирует внедрение AI в B2B (нацпроект «Цифровая экономика»)</a:t>
            </a:r>
          </a:p>
        </p:txBody>
      </p:sp>
      <p:sp>
        <p:nvSpPr>
          <p:cNvPr id="29" name="Oval 28"/>
          <p:cNvSpPr/>
          <p:nvPr/>
        </p:nvSpPr>
        <p:spPr>
          <a:xfrm>
            <a:off x="640080" y="5916168"/>
            <a:ext cx="137160" cy="13716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8521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Calibri"/>
              </a:rPr>
              <a:t>Уход западных LegalTech-сервисов открыл нишу для российских решений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651052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Юрист 2.0  |  AI правовая платформа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05695" y="651052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D4AF37"/>
                </a:solidFill>
                <a:latin typeface="Calibr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A1F44"/>
                </a:solidFill>
                <a:latin typeface="Calibri"/>
              </a:rPr>
              <a:t>Целевая аудитория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A6A7A"/>
                </a:solidFill>
                <a:latin typeface="Calibri"/>
              </a:rPr>
              <a:t>Кто заплатит за продукт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3703320" cy="4297680"/>
          </a:xfrm>
          <a:prstGeom prst="roundRect">
            <a:avLst>
              <a:gd name="adj" fmla="val 15000"/>
            </a:avLst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21031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2140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A1F44"/>
                </a:solidFill>
                <a:latin typeface="Calibri"/>
              </a:rPr>
              <a:t>PRIMARY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5176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Малый и средний бизнес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57600"/>
            <a:ext cx="182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6576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ИП и ООО без штатного юриста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69080"/>
            <a:ext cx="182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406908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Стартапы и быстрорастущие компании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80560"/>
            <a:ext cx="182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48056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Розничная торговля, услуги,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394960"/>
            <a:ext cx="3154680" cy="4572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53212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D4AF37"/>
                </a:solidFill>
                <a:latin typeface="Calibri"/>
              </a:rPr>
              <a:t>6,2 млн потенциальных клиентов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1828800"/>
            <a:ext cx="3703320" cy="4297680"/>
          </a:xfrm>
          <a:prstGeom prst="roundRect">
            <a:avLst>
              <a:gd name="adj" fmla="val 15000"/>
            </a:avLst>
          </a:prstGeom>
          <a:solidFill>
            <a:srgbClr val="142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17720" y="21031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212140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A1F44"/>
                </a:solidFill>
                <a:latin typeface="Calibri"/>
              </a:rPr>
              <a:t>SECONDARY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265176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Юристы-фрилансеры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3657600"/>
            <a:ext cx="182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80" y="36576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Частнопрактикующие юристы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4069080"/>
            <a:ext cx="182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406908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Адвокаты до 5 лет опыта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4480560"/>
            <a:ext cx="182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3480" y="448056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Юр. консультанты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17720" y="5394960"/>
            <a:ext cx="3154680" cy="4572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17720" y="553212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D4AF37"/>
                </a:solidFill>
                <a:latin typeface="Calibri"/>
              </a:rPr>
              <a:t>120 000 специалистов в РФ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1828800"/>
            <a:ext cx="3703320" cy="4297680"/>
          </a:xfrm>
          <a:prstGeom prst="roundRect">
            <a:avLst>
              <a:gd name="adj" fmla="val 15000"/>
            </a:avLst>
          </a:prstGeom>
          <a:solidFill>
            <a:srgbClr val="1E4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412480" y="210312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212140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0A1F44"/>
                </a:solidFill>
                <a:latin typeface="Calibri"/>
              </a:rPr>
              <a:t>ENTERPRISE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2651760"/>
            <a:ext cx="3154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Юридические отделы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57600"/>
            <a:ext cx="182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78240" y="36576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Корпоративные юр. отделы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4069080"/>
            <a:ext cx="182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406908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HR и compliance департаменты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4480560"/>
            <a:ext cx="182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448056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Закупки и тендеры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12480" y="5394960"/>
            <a:ext cx="3154680" cy="4572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2480" y="553212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D4AF37"/>
                </a:solidFill>
                <a:latin typeface="Calibri"/>
              </a:rPr>
              <a:t>12 000 средних предприятий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51052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Юрист 2.0  |  AI правовая платформа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05695" y="651052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D4AF37"/>
                </a:solidFill>
                <a:latin typeface="Calibr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A1F44"/>
                </a:solidFill>
                <a:latin typeface="Calibri"/>
              </a:rPr>
              <a:t>Бизнес-модель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A6A7A"/>
                </a:solidFill>
                <a:latin typeface="Calibri"/>
              </a:rPr>
              <a:t>SaaS подписка с тремя тарифами + B2B контракты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737360"/>
            <a:ext cx="2788920" cy="448056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01168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5A6A7A"/>
                </a:solidFill>
                <a:latin typeface="Calibri"/>
              </a:rPr>
              <a:t>FREE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0604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A1A2E"/>
                </a:solidFill>
                <a:latin typeface="Calibri"/>
              </a:rPr>
              <a:t>0 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24612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A6A7A"/>
                </a:solidFill>
                <a:latin typeface="Calibri"/>
              </a:rPr>
              <a:t>/мес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611879"/>
            <a:ext cx="1874520" cy="18288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794760"/>
            <a:ext cx="137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A6A7A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7947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3 проверки контрагентов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137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A6A7A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1 анализ документа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34840"/>
            <a:ext cx="137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A6A7A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348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Базовая БД законов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54880"/>
            <a:ext cx="137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A6A7A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7548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Web-доступ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76072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5A6A7A"/>
                </a:solidFill>
                <a:latin typeface="Calibri"/>
              </a:rPr>
              <a:t>Привлечение пользователей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6120" y="1737360"/>
            <a:ext cx="2788920" cy="4480560"/>
          </a:xfrm>
          <a:prstGeom prst="roundRect">
            <a:avLst>
              <a:gd name="adj" fmla="val 15000"/>
            </a:avLst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754880" y="1554480"/>
            <a:ext cx="1188720" cy="411480"/>
          </a:xfrm>
          <a:prstGeom prst="roundRect">
            <a:avLst>
              <a:gd name="adj" fmla="val 15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0" y="1572768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0A1F44"/>
                </a:solidFill>
                <a:latin typeface="Calibri"/>
              </a:rPr>
              <a:t>ПОПУЛЯРНО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201168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D4AF37"/>
                </a:solidFill>
                <a:latin typeface="Calibri"/>
              </a:rPr>
              <a:t>PRO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46120" y="260604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1 990 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24612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D4AF37"/>
                </a:solidFill>
                <a:latin typeface="Calibri"/>
              </a:rPr>
              <a:t>/мес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03320" y="3611879"/>
            <a:ext cx="1874520" cy="18288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29000" y="3794760"/>
            <a:ext cx="137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37947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Безлимит проверок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4114800"/>
            <a:ext cx="137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30 анализов документов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9000" y="4434840"/>
            <a:ext cx="137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44348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Генерация документов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754880"/>
            <a:ext cx="137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0" y="47548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Полная судебная практика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29000" y="5074920"/>
            <a:ext cx="137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0" y="50749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Email поддержка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9000" y="576072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Основной продукт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1737360"/>
            <a:ext cx="2788920" cy="4480560"/>
          </a:xfrm>
          <a:prstGeom prst="roundRect">
            <a:avLst>
              <a:gd name="adj" fmla="val 15000"/>
            </a:avLst>
          </a:prstGeom>
          <a:solidFill>
            <a:srgbClr val="142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80" y="201168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D4AF37"/>
                </a:solidFill>
                <a:latin typeface="Calibri"/>
              </a:rPr>
              <a:t>BUSINESS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260604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9 990 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80" y="324612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D4AF37"/>
                </a:solidFill>
                <a:latin typeface="Calibri"/>
              </a:rPr>
              <a:t>/мес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0" y="3611879"/>
            <a:ext cx="1874520" cy="18288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3794760"/>
            <a:ext cx="137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7960" y="37947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Всё из PRO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4114800"/>
            <a:ext cx="137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7960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До 5 пользователей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4434840"/>
            <a:ext cx="137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7960" y="44348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API доступ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60" y="4754880"/>
            <a:ext cx="137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37960" y="47548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Кастомные шаблоны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074920"/>
            <a:ext cx="137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37960" y="50749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Персональный менеджер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0" y="576072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Юр. отделы и B2B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006840" y="1737360"/>
            <a:ext cx="2788920" cy="4480560"/>
          </a:xfrm>
          <a:prstGeom prst="roundRect">
            <a:avLst>
              <a:gd name="adj" fmla="val 15000"/>
            </a:avLst>
          </a:prstGeom>
          <a:solidFill>
            <a:srgbClr val="141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06840" y="2011680"/>
            <a:ext cx="2788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D4AF37"/>
                </a:solidFill>
                <a:latin typeface="Calibri"/>
              </a:rPr>
              <a:t>ENTERPRISE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06840" y="2606040"/>
            <a:ext cx="2788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от 50 000 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06840" y="324612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D4AF37"/>
                </a:solidFill>
                <a:latin typeface="Calibri"/>
              </a:rPr>
              <a:t>/мес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464040" y="3611879"/>
            <a:ext cx="1874520" cy="18288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89720" y="3794760"/>
            <a:ext cx="137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418320" y="379476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Кастомизация платформы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89720" y="4114800"/>
            <a:ext cx="137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✓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18320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Интеграция с CRM/ERP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89720" y="4434840"/>
            <a:ext cx="137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418320" y="443484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On-premise установка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89720" y="4754880"/>
            <a:ext cx="137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418320" y="475488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SLA 99,9%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89720" y="5074920"/>
            <a:ext cx="137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✓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18320" y="507492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Юридический аудит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89720" y="576072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D4AF37"/>
                </a:solidFill>
                <a:latin typeface="Calibri"/>
              </a:rPr>
              <a:t>Крупные корпорации</a:t>
            </a:r>
          </a:p>
        </p:txBody>
      </p:sp>
      <p:sp>
        <p:nvSpPr>
          <p:cNvPr id="70" name="Rectangle 69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5760" y="651052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Юрист 2.0  |  AI правовая платформа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905695" y="651052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D4AF37"/>
                </a:solidFill>
                <a:latin typeface="Calibr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A1F44"/>
                </a:solidFill>
                <a:latin typeface="Calibri"/>
              </a:rPr>
              <a:t>Финансовая модель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A6A7A"/>
                </a:solidFill>
                <a:latin typeface="Calibri"/>
              </a:rPr>
              <a:t>Прогноз на 3 года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457200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A1F44"/>
                </a:solidFill>
                <a:latin typeface="Calibri"/>
              </a:rPr>
              <a:t>Юнит-экономика (на 1 клиента PRO)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6032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ARPU (средний чек)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5603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10B981"/>
                </a:solidFill>
                <a:latin typeface="Calibri"/>
              </a:rPr>
              <a:t>1 990 ₽/мес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6324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CAC (стоимость привлечения)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0632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1A1A2E"/>
                </a:solidFill>
                <a:latin typeface="Calibri"/>
              </a:rPr>
              <a:t>1 200 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LTV (доход с клиента)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356616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10B981"/>
                </a:solidFill>
                <a:latin typeface="Calibri"/>
              </a:rPr>
              <a:t>23 880 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8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LTV/CAC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06908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D4AF37"/>
                </a:solidFill>
                <a:latin typeface="Calibri"/>
              </a:rPr>
              <a:t>19,9×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5720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Валовая маржа (после 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457200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10B981"/>
                </a:solidFill>
                <a:latin typeface="Calibri"/>
              </a:rPr>
              <a:t>98,6%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07492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Операционная маржа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507492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10B981"/>
                </a:solidFill>
                <a:latin typeface="Calibri"/>
              </a:rPr>
              <a:t>94,6%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57784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Окупаемость клиента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5577840"/>
            <a:ext cx="1828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10B981"/>
                </a:solidFill>
                <a:latin typeface="Calibri"/>
              </a:rPr>
              <a:t>0,6 мес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303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Затраты на 1 PRO клиента: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76072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▸ Claude API (30 анализов)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576072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E53E3E"/>
                </a:solidFill>
                <a:latin typeface="Calibri"/>
              </a:rPr>
              <a:t>24 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08076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▸ DaData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608076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E53E3E"/>
                </a:solidFill>
                <a:latin typeface="Calibri"/>
              </a:rPr>
              <a:t>3 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40080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▸ Хостинг (Vercel+Neon)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64008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E53E3E"/>
                </a:solidFill>
                <a:latin typeface="Calibri"/>
              </a:rPr>
              <a:t>0.32 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672084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▸ Генерация документов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23360" y="672084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E53E3E"/>
                </a:solidFill>
                <a:latin typeface="Calibri"/>
              </a:rPr>
              <a:t>0.5 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704088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▸ Платежи (2.5%)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0" y="704088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E53E3E"/>
                </a:solidFill>
                <a:latin typeface="Calibri"/>
              </a:rPr>
              <a:t>50 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7360920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▸ Поддержка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23360" y="736092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>
                <a:solidFill>
                  <a:srgbClr val="E53E3E"/>
                </a:solidFill>
                <a:latin typeface="Calibri"/>
              </a:rPr>
              <a:t>30 ₽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1737360"/>
            <a:ext cx="5577840" cy="4572000"/>
          </a:xfrm>
          <a:prstGeom prst="roundRect">
            <a:avLst>
              <a:gd name="adj" fmla="val 15000"/>
            </a:avLst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192024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D4AF37"/>
                </a:solidFill>
                <a:latin typeface="Calibri"/>
              </a:rPr>
              <a:t>Прогноз выручки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0" y="4754880"/>
            <a:ext cx="1371600" cy="118872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43891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12,4 млн 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0" y="59893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D4AF37"/>
                </a:solidFill>
                <a:latin typeface="Calibri"/>
              </a:rPr>
              <a:t>2026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75320" y="3383280"/>
            <a:ext cx="1371600" cy="256032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75320" y="30175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67 млн 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9893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D4AF37"/>
                </a:solidFill>
                <a:latin typeface="Calibri"/>
              </a:rPr>
              <a:t>2027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966960" y="2286000"/>
            <a:ext cx="1371600" cy="36576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66960" y="19202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287 млн 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598932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D4AF37"/>
                </a:solidFill>
                <a:latin typeface="Calibri"/>
              </a:rPr>
              <a:t>2028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651052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Юрист 2.0  |  AI правовая платформа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05695" y="651052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D4AF37"/>
                </a:solidFill>
                <a:latin typeface="Calibr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A1F44"/>
                </a:solidFill>
                <a:latin typeface="Calibri"/>
              </a:rPr>
              <a:t>Конкурентный анализ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A6A7A"/>
                </a:solidFill>
                <a:latin typeface="Calibri"/>
              </a:rPr>
              <a:t>Чем мы отличаемся от существующих игроков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2286000" cy="45720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D4AF37"/>
                </a:solidFill>
                <a:latin typeface="Calibri"/>
              </a:rPr>
              <a:t>Сервис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828800"/>
            <a:ext cx="2103120" cy="45720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8745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D4AF37"/>
                </a:solidFill>
                <a:latin typeface="Calibri"/>
              </a:rPr>
              <a:t>AI-анализ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1828800"/>
            <a:ext cx="2286000" cy="45720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18745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D4AF37"/>
                </a:solidFill>
                <a:latin typeface="Calibri"/>
              </a:rPr>
              <a:t>Контрагенты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1828800"/>
            <a:ext cx="2286000" cy="45720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18745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D4AF37"/>
                </a:solidFill>
                <a:latin typeface="Calibri"/>
              </a:rPr>
              <a:t>Генерация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09760" y="1828800"/>
            <a:ext cx="2194560" cy="45720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0" y="18745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D4AF37"/>
                </a:solidFill>
                <a:latin typeface="Calibri"/>
              </a:rPr>
              <a:t>Цена/мес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286000"/>
            <a:ext cx="2286000" cy="502920"/>
          </a:xfrm>
          <a:prstGeom prst="rect">
            <a:avLst/>
          </a:prstGeom>
          <a:solidFill>
            <a:srgbClr val="D4AF37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3172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A1F44"/>
                </a:solidFill>
                <a:latin typeface="Calibri"/>
              </a:rPr>
              <a:t>Юрист 2.0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34640" y="2286000"/>
            <a:ext cx="2103120" cy="502920"/>
          </a:xfrm>
          <a:prstGeom prst="rect">
            <a:avLst/>
          </a:prstGeom>
          <a:solidFill>
            <a:srgbClr val="D4AF37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4640" y="23317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A1F44"/>
                </a:solidFill>
                <a:latin typeface="Calibri"/>
              </a:rPr>
              <a:t>✓ Полный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760" y="2286000"/>
            <a:ext cx="2286000" cy="502920"/>
          </a:xfrm>
          <a:prstGeom prst="rect">
            <a:avLst/>
          </a:prstGeom>
          <a:solidFill>
            <a:srgbClr val="D4AF37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60" y="233172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A1F44"/>
                </a:solidFill>
                <a:latin typeface="Calibri"/>
              </a:rPr>
              <a:t>✓ DaData+ЕГРЮЛ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23760" y="2286000"/>
            <a:ext cx="2286000" cy="502920"/>
          </a:xfrm>
          <a:prstGeom prst="rect">
            <a:avLst/>
          </a:prstGeom>
          <a:solidFill>
            <a:srgbClr val="D4AF37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233172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A1F44"/>
                </a:solidFill>
                <a:latin typeface="Calibri"/>
              </a:rPr>
              <a:t>✓ AI-генерация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09760" y="2286000"/>
            <a:ext cx="2194560" cy="502920"/>
          </a:xfrm>
          <a:prstGeom prst="rect">
            <a:avLst/>
          </a:prstGeom>
          <a:solidFill>
            <a:srgbClr val="D4AF37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0" y="23317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A1F44"/>
                </a:solidFill>
                <a:latin typeface="Calibri"/>
              </a:rPr>
              <a:t>от 1 990 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788920"/>
            <a:ext cx="22860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83464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Контур.Фокус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34640" y="2788920"/>
            <a:ext cx="21031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4640" y="283464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37760" y="2788920"/>
            <a:ext cx="22860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0" y="283464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✓ Только проверка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3760" y="2788920"/>
            <a:ext cx="22860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23760" y="283464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09760" y="2788920"/>
            <a:ext cx="219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09760" y="283464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от 4 800 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291840"/>
            <a:ext cx="22860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33756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СПАРК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34640" y="3291840"/>
            <a:ext cx="2103120" cy="502920"/>
          </a:xfrm>
          <a:prstGeom prst="rect">
            <a:avLst/>
          </a:prstGeom>
          <a:solidFill>
            <a:srgbClr val="F5F7FA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34640" y="333756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37760" y="3291840"/>
            <a:ext cx="22860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37760" y="333756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✓ Расширенная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23760" y="3291840"/>
            <a:ext cx="22860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23760" y="333756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09760" y="3291840"/>
            <a:ext cx="2194560" cy="502920"/>
          </a:xfrm>
          <a:prstGeom prst="rect">
            <a:avLst/>
          </a:prstGeom>
          <a:solidFill>
            <a:srgbClr val="F5F7FA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760" y="333756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от 12 000 ₽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3794760"/>
            <a:ext cx="22860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3840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КонсультантПлюс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34640" y="3794760"/>
            <a:ext cx="21031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34640" y="384048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760" y="3794760"/>
            <a:ext cx="22860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937760" y="3840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23760" y="3794760"/>
            <a:ext cx="22860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23760" y="384048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Шаблоны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509760" y="3794760"/>
            <a:ext cx="219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09760" y="384048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от 8 000 ₽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4297680"/>
            <a:ext cx="22860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434340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Doczilla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834640" y="4297680"/>
            <a:ext cx="2103120" cy="502920"/>
          </a:xfrm>
          <a:prstGeom prst="rect">
            <a:avLst/>
          </a:prstGeom>
          <a:solidFill>
            <a:srgbClr val="F5F7FA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834640" y="434340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Базовый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937760" y="4297680"/>
            <a:ext cx="22860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937760" y="434340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223760" y="4297680"/>
            <a:ext cx="2286000" cy="502920"/>
          </a:xfrm>
          <a:prstGeom prst="rect">
            <a:avLst/>
          </a:prstGeom>
          <a:solidFill>
            <a:srgbClr val="F5F7FA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223760" y="434340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✓ Шаблоны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09760" y="4297680"/>
            <a:ext cx="2194560" cy="502920"/>
          </a:xfrm>
          <a:prstGeom prst="rect">
            <a:avLst/>
          </a:prstGeom>
          <a:solidFill>
            <a:srgbClr val="F5F7FA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09760" y="434340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от 2 990 ₽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4800600"/>
            <a:ext cx="22860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484632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Право.ru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834640" y="4800600"/>
            <a:ext cx="210312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834640" y="484632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—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37760" y="4800600"/>
            <a:ext cx="22860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37760" y="484632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—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223760" y="4800600"/>
            <a:ext cx="228600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223760" y="4846320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—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509760" y="4800600"/>
            <a:ext cx="2194560" cy="502920"/>
          </a:xfrm>
          <a:prstGeom prst="rect">
            <a:avLst/>
          </a:prstGeom>
          <a:solidFill>
            <a:srgbClr val="FFFFFF"/>
          </a:solidFill>
          <a:ln>
            <a:solidFill>
              <a:srgbClr val="E0E5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509760" y="48463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от 5 000 ₽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5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💡 Уникально: единственный сервис с full-stack AI-анализом + проверкой контрагентов в одном продукте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65760" y="651052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Юрист 2.0  |  AI правовая платформа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05695" y="651052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D4AF37"/>
                </a:solidFill>
                <a:latin typeface="Calibr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A1F44"/>
                </a:solidFill>
                <a:latin typeface="Calibri"/>
              </a:rPr>
              <a:t>Технологический стек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A6A7A"/>
                </a:solidFill>
                <a:latin typeface="Calibri"/>
              </a:rPr>
              <a:t>Современная архитектура enterprise-уровня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697480" cy="320040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2697480" cy="54864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7452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D4AF37"/>
                </a:solidFill>
                <a:latin typeface="Calibri"/>
              </a:rPr>
              <a:t>Frontend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51760"/>
            <a:ext cx="214884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solidFill>
              <a:srgbClr val="CCD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97480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Next.js 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154680"/>
            <a:ext cx="214884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solidFill>
              <a:srgbClr val="CCD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200400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React 19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657600"/>
            <a:ext cx="214884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solidFill>
              <a:srgbClr val="CCD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703320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TypeScript 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60520"/>
            <a:ext cx="214884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solidFill>
              <a:srgbClr val="CCD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06240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Tailwind CSS 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1828800"/>
            <a:ext cx="2697480" cy="320040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83280" y="1828800"/>
            <a:ext cx="2697480" cy="54864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187452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D4AF37"/>
                </a:solidFill>
                <a:latin typeface="Calibri"/>
              </a:rPr>
              <a:t>Backend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0" y="2651760"/>
            <a:ext cx="214884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solidFill>
              <a:srgbClr val="CCD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0" y="2697480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Next.js API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0" y="3154680"/>
            <a:ext cx="214884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solidFill>
              <a:srgbClr val="CCD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3200400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NextAuth.js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657600"/>
            <a:ext cx="214884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solidFill>
              <a:srgbClr val="CCD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0" y="3703320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Prisma ORM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0" y="4160520"/>
            <a:ext cx="214884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solidFill>
              <a:srgbClr val="CCD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0" y="4206240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PostgreSQL (Neon)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1828800"/>
            <a:ext cx="2697480" cy="320040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1828800"/>
            <a:ext cx="2697480" cy="54864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187452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D4AF37"/>
                </a:solidFill>
                <a:latin typeface="Calibri"/>
              </a:rPr>
              <a:t>AI / ML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2651760"/>
            <a:ext cx="214884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solidFill>
              <a:srgbClr val="CCD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2697480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Claude 4.5 Sonnet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92240" y="3154680"/>
            <a:ext cx="214884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solidFill>
              <a:srgbClr val="CCD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3200400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Gemini 2.0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92240" y="3657600"/>
            <a:ext cx="214884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solidFill>
              <a:srgbClr val="CCD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3703320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Groq LPU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92240" y="4160520"/>
            <a:ext cx="214884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solidFill>
              <a:srgbClr val="CCD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2240" y="4206240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Custom prompts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52560" y="1828800"/>
            <a:ext cx="2697480" cy="320040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52560" y="1828800"/>
            <a:ext cx="2697480" cy="54864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52560" y="187452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D4AF37"/>
                </a:solidFill>
                <a:latin typeface="Calibri"/>
              </a:rPr>
              <a:t>Интеграции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326880" y="2651760"/>
            <a:ext cx="214884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solidFill>
              <a:srgbClr val="CCD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2697480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DaData API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326880" y="3154680"/>
            <a:ext cx="214884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solidFill>
              <a:srgbClr val="CCD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0" y="3200400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ЕГРЮЛ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326880" y="3657600"/>
            <a:ext cx="214884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solidFill>
              <a:srgbClr val="CCD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26880" y="3703320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КАД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326880" y="4160520"/>
            <a:ext cx="2148840" cy="4114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solidFill>
              <a:srgbClr val="CCD3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0" y="4206240"/>
            <a:ext cx="2148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A1A2E"/>
                </a:solidFill>
                <a:latin typeface="Calibri"/>
              </a:rPr>
              <a:t>ФССП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15000"/>
            </a:avLst>
          </a:prstGeom>
          <a:solidFill>
            <a:srgbClr val="142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1520" y="55321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4AF37"/>
                </a:solidFill>
                <a:latin typeface="Calibri"/>
              </a:rPr>
              <a:t>Облачная инфраструктура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Vercel (CDN + Edge Functions)  ·  Neon (PostgreSQL)  ·  GitHub Actions (CI/CD)  ·  HTTPS + Auto-scaling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1052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Юрист 2.0  |  AI правовая платформа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05695" y="651052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D4AF37"/>
                </a:solidFill>
                <a:latin typeface="Calibr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A1F44"/>
                </a:solidFill>
                <a:latin typeface="Calibri"/>
              </a:rPr>
              <a:t>Дорожная карта развития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A6A7A"/>
                </a:solidFill>
                <a:latin typeface="Calibri"/>
              </a:rPr>
              <a:t>От MVP до лидера рынка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331720" cy="4206240"/>
          </a:xfrm>
          <a:prstGeom prst="roundRect">
            <a:avLst>
              <a:gd name="adj" fmla="val 15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1031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D4AF37"/>
                </a:solidFill>
                <a:latin typeface="Calibri"/>
              </a:rPr>
              <a:t>Q4 2025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06040"/>
            <a:ext cx="1600200" cy="3200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2432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Calibri"/>
              </a:rPr>
              <a:t>СДЕЛАНО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1089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MVP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657600"/>
            <a:ext cx="1417320" cy="18288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840480"/>
            <a:ext cx="137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40480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Анализ документов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97680"/>
            <a:ext cx="137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297680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Скоринг контрагентов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754880"/>
            <a:ext cx="137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754880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База законов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12080"/>
            <a:ext cx="137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12080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Деплой в продакшен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1828800"/>
            <a:ext cx="2331720" cy="4206240"/>
          </a:xfrm>
          <a:prstGeom prst="roundRect">
            <a:avLst>
              <a:gd name="adj" fmla="val 15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88920" y="21031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D4AF37"/>
                </a:solidFill>
                <a:latin typeface="Calibri"/>
              </a:rPr>
              <a:t>Q1 2026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54680" y="2606040"/>
            <a:ext cx="1600200" cy="3200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4680" y="262432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D4AF37"/>
                </a:solidFill>
                <a:latin typeface="Calibri"/>
              </a:rPr>
              <a:t>В РАБОТЕ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88920" y="31089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Запуск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46120" y="3657600"/>
            <a:ext cx="1417320" cy="18288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71800" y="3840480"/>
            <a:ext cx="137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3840480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Платная подписка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" y="4297680"/>
            <a:ext cx="137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4680" y="4297680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Интеграция эквайринга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71800" y="4754880"/>
            <a:ext cx="137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54680" y="4754880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Маркетинг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71800" y="5212080"/>
            <a:ext cx="137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54680" y="5212080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B2C продажи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12080" y="1828800"/>
            <a:ext cx="2331720" cy="4206240"/>
          </a:xfrm>
          <a:prstGeom prst="roundRect">
            <a:avLst>
              <a:gd name="adj" fmla="val 15000"/>
            </a:avLst>
          </a:prstGeom>
          <a:solidFill>
            <a:srgbClr val="142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12080" y="21031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D4AF37"/>
                </a:solidFill>
                <a:latin typeface="Calibri"/>
              </a:rPr>
              <a:t>Q2-Q3 2026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577840" y="2606040"/>
            <a:ext cx="1600200" cy="3200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0" y="262432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42D6F"/>
                </a:solidFill>
                <a:latin typeface="Calibri"/>
              </a:rPr>
              <a:t>ПЛАН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31089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Рост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0" y="3657600"/>
            <a:ext cx="1417320" cy="18288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94960" y="3840480"/>
            <a:ext cx="137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3840480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Mobile-приложение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94960" y="4297680"/>
            <a:ext cx="137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77840" y="4297680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API для разработчиков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94960" y="4754880"/>
            <a:ext cx="137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77840" y="4754880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Telegram-бот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94960" y="5212080"/>
            <a:ext cx="137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77840" y="5212080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Расширение БД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635240" y="1828800"/>
            <a:ext cx="2331720" cy="4206240"/>
          </a:xfrm>
          <a:prstGeom prst="roundRect">
            <a:avLst>
              <a:gd name="adj" fmla="val 15000"/>
            </a:avLst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35240" y="21031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D4AF37"/>
                </a:solidFill>
                <a:latin typeface="Calibri"/>
              </a:rPr>
              <a:t>Q4 2026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01000" y="2606040"/>
            <a:ext cx="1600200" cy="3200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01000" y="262432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0A1F44"/>
                </a:solidFill>
                <a:latin typeface="Calibri"/>
              </a:rPr>
              <a:t>ПЛАН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35240" y="31089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Масштаб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092440" y="3657600"/>
            <a:ext cx="1417320" cy="18288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18120" y="3840480"/>
            <a:ext cx="137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01000" y="3840480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Корп. версия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18120" y="4297680"/>
            <a:ext cx="137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01000" y="4297680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Интеграции с CRM/1C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18120" y="4754880"/>
            <a:ext cx="137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•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1000" y="4754880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Региональные представительства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18120" y="5212080"/>
            <a:ext cx="137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01000" y="5212080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Whitelabel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058400" y="1828800"/>
            <a:ext cx="2331720" cy="4206240"/>
          </a:xfrm>
          <a:prstGeom prst="roundRect">
            <a:avLst>
              <a:gd name="adj" fmla="val 15000"/>
            </a:avLst>
          </a:prstGeom>
          <a:solidFill>
            <a:srgbClr val="141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58400" y="21031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D4AF37"/>
                </a:solidFill>
                <a:latin typeface="Calibri"/>
              </a:rPr>
              <a:t>2027+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24160" y="2606040"/>
            <a:ext cx="1600200" cy="3200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424160" y="262432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14142A"/>
                </a:solidFill>
                <a:latin typeface="Calibri"/>
              </a:rPr>
              <a:t>ВИДЕНИЕ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0" y="310896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Экспансия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515600" y="3657600"/>
            <a:ext cx="1417320" cy="18288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241280" y="3840480"/>
            <a:ext cx="137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•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24160" y="3840480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Выход в СНГ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241280" y="4297680"/>
            <a:ext cx="137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•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24160" y="4297680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Голосовой ассистент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241280" y="4754880"/>
            <a:ext cx="137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•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424160" y="4754880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AI-арбитраж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41280" y="5212080"/>
            <a:ext cx="137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4AF37"/>
                </a:solidFill>
                <a:latin typeface="Calibri"/>
              </a:rPr>
              <a:t>•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24160" y="5212080"/>
            <a:ext cx="1874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IPO подготовка</a:t>
            </a:r>
          </a:p>
        </p:txBody>
      </p:sp>
      <p:sp>
        <p:nvSpPr>
          <p:cNvPr id="76" name="Rectangle 7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5760" y="651052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Юрист 2.0  |  AI правовая платформа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905695" y="651052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D4AF37"/>
                </a:solidFill>
                <a:latin typeface="Calibr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A1F44"/>
                </a:solidFill>
                <a:latin typeface="Calibri"/>
              </a:rPr>
              <a:t>Что уже сделано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A6A7A"/>
                </a:solidFill>
                <a:latin typeface="Calibri"/>
              </a:rPr>
              <a:t>Платформа запущена в продакшен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11064240" cy="914400"/>
          </a:xfrm>
          <a:prstGeom prst="roundRect">
            <a:avLst>
              <a:gd name="adj" fmla="val 15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1064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✓ MVP в продакшене  |  Vercel + Neon PostgreSQL  |  Реальные API-интеграции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34640"/>
            <a:ext cx="3611880" cy="155448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306324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08152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01752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A1F44"/>
                </a:solidFill>
                <a:latin typeface="Calibri"/>
              </a:rPr>
              <a:t>AI-анализ документов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474720"/>
            <a:ext cx="2697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Загрузка PDF/DOCX, извлечение рисков,</a:t>
            </a:r>
          </a:p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ссылки на статьи ГК РФ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2834640"/>
            <a:ext cx="3611880" cy="155448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434840" y="306324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308152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01752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A1F44"/>
                </a:solidFill>
                <a:latin typeface="Calibri"/>
              </a:rPr>
              <a:t>Проверка контрагентов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474720"/>
            <a:ext cx="2697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Реальная интеграция с DaData:</a:t>
            </a:r>
          </a:p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данные ЕГРЮЛ, статус, фин. показатели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80" y="2834640"/>
            <a:ext cx="3611880" cy="155448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308152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301752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A1F44"/>
                </a:solidFill>
                <a:latin typeface="Calibri"/>
              </a:rPr>
              <a:t>Скоринг рисков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3474720"/>
            <a:ext cx="2697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Алгоритм оценки надёжности</a:t>
            </a:r>
          </a:p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на основе 8+ факторов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480560"/>
            <a:ext cx="3611880" cy="155448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470916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72744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466344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A1F44"/>
                </a:solidFill>
                <a:latin typeface="Calibri"/>
              </a:rPr>
              <a:t>Генерация документов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5120640"/>
            <a:ext cx="2697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AI создаёт договоры, иски,</a:t>
            </a:r>
          </a:p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претензии по запросу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4480560"/>
            <a:ext cx="3611880" cy="155448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434840" y="470916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34840" y="472744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66344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A1F44"/>
                </a:solidFill>
                <a:latin typeface="Calibri"/>
              </a:rPr>
              <a:t>База российского права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5120640"/>
            <a:ext cx="2697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ГК РФ, ТК РФ, НК РФ, КоАП,</a:t>
            </a:r>
          </a:p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полнотекстовый поиск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80" y="4480560"/>
            <a:ext cx="3611880" cy="155448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138160" y="470916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0" y="472744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32520" y="466344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A1F44"/>
                </a:solidFill>
                <a:latin typeface="Calibri"/>
              </a:rPr>
              <a:t>Авторизация и тарифы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2520" y="5120640"/>
            <a:ext cx="2697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JWT-аутентификация,</a:t>
            </a:r>
          </a:p>
          <a:p>
            <a:pPr algn="l"/>
            <a:r>
              <a:rPr sz="1100" b="0">
                <a:solidFill>
                  <a:srgbClr val="5A6A7A"/>
                </a:solidFill>
                <a:latin typeface="Calibri"/>
              </a:rPr>
              <a:t>Google OAuth, FREE/PRO/BUSINESS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651052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Юрист 2.0  |  AI правовая платформа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05695" y="651052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D4AF37"/>
                </a:solidFill>
                <a:latin typeface="Calibr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A1F44"/>
                </a:solidFill>
                <a:latin typeface="Calibri"/>
              </a:rPr>
              <a:t>Команда и компетенции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A6A7A"/>
                </a:solidFill>
                <a:latin typeface="Calibri"/>
              </a:rPr>
              <a:t>Авторская разработка студента МГИМО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1064240" cy="2286000"/>
          </a:xfrm>
          <a:prstGeom prst="roundRect">
            <a:avLst>
              <a:gd name="adj" fmla="val 15000"/>
            </a:avLst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94560"/>
            <a:ext cx="1554480" cy="15544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55448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4000" b="1">
                <a:solidFill>
                  <a:srgbClr val="0A1F44"/>
                </a:solidFill>
                <a:latin typeface="Calibri"/>
              </a:rPr>
              <a:t>ХЗ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10312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Хадызов Зураб Джамалаевич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6517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D4AF37"/>
                </a:solidFill>
                <a:latin typeface="Calibri"/>
              </a:rPr>
              <a:t>Основатель и разработчик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10896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МГИМО МИД России  ·  Факультет управления и политики  ·  3 курс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52044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Компетенции: full-stack разработка, AI-инжиниринг, продуктовое мышление, управление проектами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434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A1F44"/>
                </a:solidFill>
                <a:latin typeface="Calibri"/>
              </a:rPr>
              <a:t>Планируемые роли в команде после привлечения инвестиций: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83480"/>
            <a:ext cx="2697480" cy="128016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16636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A1F44"/>
                </a:solidFill>
                <a:latin typeface="Calibri"/>
              </a:rPr>
              <a:t>CTO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62356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A6A7A"/>
                </a:solidFill>
                <a:latin typeface="Calibri"/>
              </a:rPr>
              <a:t>Архитектура и команда</a:t>
            </a:r>
          </a:p>
          <a:p>
            <a:pPr algn="ctr"/>
            <a:r>
              <a:rPr sz="1100" b="0">
                <a:solidFill>
                  <a:srgbClr val="5A6A7A"/>
                </a:solidFill>
                <a:latin typeface="Calibri"/>
              </a:rPr>
              <a:t>разработки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4983480"/>
            <a:ext cx="2697480" cy="128016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0" y="516636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A1F44"/>
                </a:solidFill>
                <a:latin typeface="Calibri"/>
              </a:rPr>
              <a:t>Юрист-эксперт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62356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A6A7A"/>
                </a:solidFill>
                <a:latin typeface="Calibri"/>
              </a:rPr>
              <a:t>Контент,</a:t>
            </a:r>
          </a:p>
          <a:p>
            <a:pPr algn="ctr"/>
            <a:r>
              <a:rPr sz="1100" b="0">
                <a:solidFill>
                  <a:srgbClr val="5A6A7A"/>
                </a:solidFill>
                <a:latin typeface="Calibri"/>
              </a:rPr>
              <a:t>верификация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983480"/>
            <a:ext cx="2697480" cy="128016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516636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A1F44"/>
                </a:solidFill>
                <a:latin typeface="Calibri"/>
              </a:rPr>
              <a:t>Sales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562356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A6A7A"/>
                </a:solidFill>
                <a:latin typeface="Calibri"/>
              </a:rPr>
              <a:t>B2B продажи,</a:t>
            </a:r>
          </a:p>
          <a:p>
            <a:pPr algn="ctr"/>
            <a:r>
              <a:rPr sz="1100" b="0">
                <a:solidFill>
                  <a:srgbClr val="5A6A7A"/>
                </a:solidFill>
                <a:latin typeface="Calibri"/>
              </a:rPr>
              <a:t>партнёрства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52560" y="4983480"/>
            <a:ext cx="2697480" cy="128016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0" y="516636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A1F44"/>
                </a:solidFill>
                <a:latin typeface="Calibri"/>
              </a:rPr>
              <a:t>Marketing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562356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5A6A7A"/>
                </a:solidFill>
                <a:latin typeface="Calibri"/>
              </a:rPr>
              <a:t>Performance, контент,</a:t>
            </a:r>
          </a:p>
          <a:p>
            <a:pPr algn="ctr"/>
            <a:r>
              <a:rPr sz="1100" b="0">
                <a:solidFill>
                  <a:srgbClr val="5A6A7A"/>
                </a:solidFill>
                <a:latin typeface="Calibri"/>
              </a:rPr>
              <a:t>PR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51052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Юрист 2.0  |  AI правовая платформа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05695" y="651052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D4AF37"/>
                </a:solidFill>
                <a:latin typeface="Calibr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A1F44"/>
                </a:solidFill>
                <a:latin typeface="Calibri"/>
              </a:rPr>
              <a:t>Инвестиционная привлекательность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A6A7A"/>
                </a:solidFill>
                <a:latin typeface="Calibri"/>
              </a:rPr>
              <a:t>Чего мы ищем и что предлагаем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4572000"/>
          </a:xfrm>
          <a:prstGeom prst="roundRect">
            <a:avLst>
              <a:gd name="adj" fmla="val 15000"/>
            </a:avLst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D4AF37"/>
                </a:solidFill>
                <a:latin typeface="Calibri"/>
              </a:rPr>
              <a:t>Раунд seed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5 000 000 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832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D4AF37"/>
                </a:solidFill>
                <a:latin typeface="Calibri"/>
              </a:rPr>
              <a:t>За 15% доли в проекте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023360"/>
            <a:ext cx="4937760" cy="18288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D4AF37"/>
                </a:solidFill>
                <a:latin typeface="Calibri"/>
              </a:rPr>
              <a:t>Распределение средств: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262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Разработка и команда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452628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D4AF37"/>
                </a:solidFill>
                <a:latin typeface="Calibri"/>
              </a:rPr>
              <a:t>45%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9377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Маркетинг и привлечение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93776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D4AF37"/>
                </a:solidFill>
                <a:latin typeface="Calibri"/>
              </a:rPr>
              <a:t>30%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3492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Юридическая экспертиза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534924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D4AF37"/>
                </a:solidFill>
                <a:latin typeface="Calibri"/>
              </a:rPr>
              <a:t>15%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Инфраструктура и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76072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>
                <a:solidFill>
                  <a:srgbClr val="D4AF37"/>
                </a:solidFill>
                <a:latin typeface="Calibri"/>
              </a:rPr>
              <a:t>10%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1737360"/>
            <a:ext cx="5577840" cy="457200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192024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A1F44"/>
                </a:solidFill>
                <a:latin typeface="Calibri"/>
              </a:rPr>
              <a:t>Что получает инвестор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56032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>
                <a:solidFill>
                  <a:srgbClr val="D4AF37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25603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A1F44"/>
                </a:solidFill>
                <a:latin typeface="Calibri"/>
              </a:rPr>
              <a:t>Х15 за 3 года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9260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При выходе на 287 млн ₽ выручки оценка проекта — 1,5+ млрд 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73552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>
                <a:solidFill>
                  <a:srgbClr val="D4AF37"/>
                </a:solidFill>
                <a:latin typeface="Calibri"/>
              </a:rPr>
              <a:t>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7355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A1F44"/>
                </a:solidFill>
                <a:latin typeface="Calibri"/>
              </a:rPr>
              <a:t>Готовый MVP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36393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Продукт уже в продакшене, не нужно ждать разработки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98678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>
                <a:solidFill>
                  <a:srgbClr val="D4AF37"/>
                </a:solidFill>
                <a:latin typeface="Calibri"/>
              </a:rPr>
              <a:t>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398678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A1F44"/>
                </a:solidFill>
                <a:latin typeface="Calibri"/>
              </a:rPr>
              <a:t>Регулируемый рынок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435254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LegalTech — устойчивая ниша с барьерами для конкурентов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70001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>
                <a:solidFill>
                  <a:srgbClr val="D4AF37"/>
                </a:solidFill>
                <a:latin typeface="Calibri"/>
              </a:rPr>
              <a:t>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470001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A1F44"/>
                </a:solidFill>
                <a:latin typeface="Calibri"/>
              </a:rPr>
              <a:t>Опытная команда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50657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Поддержка экспертов МГИМО: бизнес, право, политика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41324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>
                <a:solidFill>
                  <a:srgbClr val="D4AF37"/>
                </a:solidFill>
                <a:latin typeface="Calibri"/>
              </a:rPr>
              <a:t>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541324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A1F44"/>
                </a:solidFill>
                <a:latin typeface="Calibri"/>
              </a:rPr>
              <a:t>Прозрачный SaaS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57790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Метрики MRR, ARR, churn — всё считается и контролируется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651052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Юрист 2.0  |  AI правовая платформа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05695" y="651052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D4AF37"/>
                </a:solidFill>
                <a:latin typeface="Calibr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0A1F44"/>
                </a:solidFill>
                <a:latin typeface="Calibri"/>
              </a:rPr>
              <a:t>Риски и их митигация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5A6A7A"/>
                </a:solidFill>
                <a:latin typeface="Calibri"/>
              </a:rPr>
              <a:t>Прозрачно о возможных проблемах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1064240" cy="96012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137160" cy="96012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A1F44"/>
                </a:solidFill>
                <a:latin typeface="Calibri"/>
              </a:rPr>
              <a:t>Регуляторные изменения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Изменение законодательства об AI или персональных данных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79" y="21031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→ Юридическая команда мониторит изменения, гибкая архитектура для быстрой адаптации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7040" y="2148840"/>
            <a:ext cx="868680" cy="320040"/>
          </a:xfrm>
          <a:prstGeom prst="roundRect">
            <a:avLst>
              <a:gd name="adj" fmla="val 15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0" y="216712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СРЕДНИЙ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880360"/>
            <a:ext cx="11064240" cy="96012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880360"/>
            <a:ext cx="137160" cy="96012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718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A1F44"/>
                </a:solidFill>
                <a:latin typeface="Calibri"/>
              </a:rPr>
              <a:t>Конкуренция от крупных игроков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33756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Контур, СПАРК или Яндекс могут запустить аналог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79" y="315468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→ Скорость, нишевая специализация на МСП, более низкая цена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607040" y="3200400"/>
            <a:ext cx="868680" cy="320040"/>
          </a:xfrm>
          <a:prstGeom prst="roundRect">
            <a:avLst>
              <a:gd name="adj" fmla="val 15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0" y="321868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СРЕДНИЙ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31920"/>
            <a:ext cx="11064240" cy="96012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931920"/>
            <a:ext cx="137160" cy="9601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0233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A1F44"/>
                </a:solidFill>
                <a:latin typeface="Calibri"/>
              </a:rPr>
              <a:t>Качество AI-ответов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3891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ИИ может допускать ошибки в юридических заключениях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42062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→ Двойная проверка с реальной БД законов, дисклеймер, расширение базы прецедентов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607040" y="4251960"/>
            <a:ext cx="868680" cy="320040"/>
          </a:xfrm>
          <a:prstGeom prst="roundRect">
            <a:avLst>
              <a:gd name="adj" fmla="val 15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0" y="42702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НИЗКИЙ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83480"/>
            <a:ext cx="11064240" cy="960120"/>
          </a:xfrm>
          <a:prstGeom prst="roundRect">
            <a:avLst>
              <a:gd name="adj" fmla="val 1500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4983480"/>
            <a:ext cx="137160" cy="96012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0749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A1F44"/>
                </a:solidFill>
                <a:latin typeface="Calibri"/>
              </a:rPr>
              <a:t>Привлечение клиентов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4406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A7A"/>
                </a:solidFill>
                <a:latin typeface="Calibri"/>
              </a:rPr>
              <a:t>Высокая стоимость привлечения B2B клиентов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525780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→ Freemium-модель, контент-маркетинг, реферальная программа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607040" y="5303520"/>
            <a:ext cx="868680" cy="320040"/>
          </a:xfrm>
          <a:prstGeom prst="roundRect">
            <a:avLst>
              <a:gd name="adj" fmla="val 15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07040" y="532180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СРЕДНИЙ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651052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Calibri"/>
              </a:rPr>
              <a:t>Юрист 2.0  |  AI правовая платформа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05695" y="6510528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D4AF37"/>
                </a:solidFill>
                <a:latin typeface="Calibr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-2743200"/>
            <a:ext cx="6400800" cy="6400800"/>
          </a:xfrm>
          <a:prstGeom prst="ellipse">
            <a:avLst/>
          </a:prstGeom>
          <a:solidFill>
            <a:srgbClr val="142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3657600"/>
            <a:ext cx="5486400" cy="5486400"/>
          </a:xfrm>
          <a:prstGeom prst="ellipse">
            <a:avLst/>
          </a:prstGeom>
          <a:solidFill>
            <a:srgbClr val="142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Calibri"/>
              </a:rPr>
              <a:t>Готовы к партнёрству?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D4AF37"/>
                </a:solidFill>
                <a:latin typeface="Calibri"/>
              </a:rPr>
              <a:t>Юрист 2.0 — это будущее правовой поддержки бизнеса в России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3200400"/>
            <a:ext cx="3931920" cy="822960"/>
          </a:xfrm>
          <a:prstGeom prst="roundRect">
            <a:avLst>
              <a:gd name="adj" fmla="val 15000"/>
            </a:avLst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324612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0A1F44"/>
                </a:solidFill>
                <a:latin typeface="Calibri"/>
              </a:rPr>
              <a:t>ЗАПРОСИТЬ ДЕМО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Хадызов Зураб Джамалаевич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D4AF37"/>
                </a:solidFill>
                <a:latin typeface="Calibri"/>
              </a:rPr>
              <a:t>Основатель проекта  ·  МГИМО МИД России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6692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D4AF37"/>
                </a:solidFill>
                <a:latin typeface="Calibri"/>
              </a:rPr>
              <a:t>✉  Email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60350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z.khadyzov@my.mgimo.ru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56692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D4AF37"/>
                </a:solidFill>
                <a:latin typeface="Calibri"/>
              </a:rPr>
              <a:t>📱  Telegram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60350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@khadyzov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0" y="56692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D4AF37"/>
                </a:solidFill>
                <a:latin typeface="Calibri"/>
              </a:rPr>
              <a:t>🌐  Сайт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0" y="60350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yurist2.vercel.app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