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36576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2D6E"/>
                </a:solidFill>
                <a:latin typeface="Calibri"/>
              </a:rPr>
              <a:t>МИНИСТЕРСТВО ИНОСТРАННЫХ ДЕЛ РОССИЙСКОЙ ФЕДЕРАЦИИ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2D6E"/>
                </a:solidFill>
                <a:latin typeface="Calibri"/>
              </a:rPr>
              <a:t>Московский государственный институт международных отношений (МГИМО)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1A1F36"/>
                </a:solidFill>
                <a:latin typeface="Calibri"/>
              </a:rPr>
              <a:t>Факультет управления и политики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828800"/>
            <a:ext cx="4846320" cy="27432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89B3C"/>
                </a:solidFill>
                <a:latin typeface="Calibri"/>
              </a:rPr>
              <a:t>КУРСОВАЯ РАБОТА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C6B7C"/>
                </a:solidFill>
                <a:latin typeface="Calibri"/>
              </a:rPr>
              <a:t>на тему: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146304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Разработка цифровой платформы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C89B3C"/>
                </a:solidFill>
                <a:latin typeface="Calibri"/>
              </a:rPr>
              <a:t>правовой поддержки малого и среднего бизнеса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с использованием технологий искусственного интеллекта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C6B7C"/>
                </a:solidFill>
                <a:latin typeface="Calibri"/>
              </a:rPr>
              <a:t>Выполнил: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29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F36"/>
                </a:solidFill>
                <a:latin typeface="Calibri"/>
              </a:rPr>
              <a:t>Хадызов Зураб Джамалаевич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349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C6B7C"/>
                </a:solidFill>
                <a:latin typeface="Calibri"/>
              </a:rPr>
              <a:t>студент 3 курса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C6B7C"/>
                </a:solidFill>
                <a:latin typeface="Calibri"/>
              </a:rPr>
              <a:t>Научный руководитель: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760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________________________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02D6E"/>
                </a:solidFill>
                <a:latin typeface="Calibri"/>
              </a:rPr>
              <a:t>Москва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СОДЕРЖАНИЕ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Структура работы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756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Введение и актуальность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6032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2432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2432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Цель и задачи исследования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7296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7296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Объект, предмет и методология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5760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2160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Анализ предметной области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0624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7024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27024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Архитектура системы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75488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188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8188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Технологический стек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30352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36752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6752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Реализация: AI-анализ документов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01168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0756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0756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Реализация: проверка контрагентов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56032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62432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62432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Реализация: база права и генерация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10896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17296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317296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Деплой и инфраструктура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65760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72160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Результаты и достижения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20624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27024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27024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Сложности разработки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75488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8188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48188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Перспективы развития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30352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536752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536752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A1F36"/>
                </a:solidFill>
                <a:latin typeface="Calibri"/>
              </a:rPr>
              <a:t>Заключение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2 из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01 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Актуальность темы исследования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2D6E"/>
                </a:solidFill>
                <a:latin typeface="Calibri"/>
              </a:rPr>
              <a:t>Цифровая трансформация правового поля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Современное российское бизнес-сообщество сталкивается с растущей сложностью правового регулирования. По данным Минэкономразвития, ежегодно принимается более 500 нормативных актов, влияющих на деятельность МСП.</a:t>
            </a:r>
          </a:p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При этом 73% субъектов малого бизнеса не имеют возможности содержать штатного юриста, а услуги внешних консультантов являются недоступными для большинства предпринимателей.</a:t>
            </a:r>
          </a:p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Развитие технологий искусственного интеллекта открывает принципиально новые возможности для автоматизации юридических услуг и обеспечения правовой поддержки бизнеса.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011680"/>
            <a:ext cx="4114800" cy="429768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19456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Ключевые показатели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697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89B3C"/>
                </a:solidFill>
                <a:latin typeface="Calibri"/>
              </a:rPr>
              <a:t>6,2 млн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632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субъектов МСП в РФ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89B3C"/>
                </a:solidFill>
                <a:latin typeface="Calibri"/>
              </a:rPr>
              <a:t>73%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7490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без штатного юриста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69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89B3C"/>
                </a:solidFill>
                <a:latin typeface="Calibri"/>
              </a:rPr>
              <a:t>450 млрд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4348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объём рынка юр. услуг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754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89B3C"/>
                </a:solidFill>
                <a:latin typeface="Calibri"/>
              </a:rPr>
              <a:t>28%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1206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годовой рост LegalTech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440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89B3C"/>
                </a:solidFill>
                <a:latin typeface="Calibri"/>
              </a:rPr>
              <a:t>500+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8064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новых НПА в год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3 из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02  ЦЕЛЬ И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Что должно быть выполнено в рамках работы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118872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ЦЕЛЬ: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Разработать функционирующий прототип цифровой платформы правовой поддержки на основе AI,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обеспечивающей доступную юридическую помощь для субъектов МСП.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  <a:latin typeface="Calibri"/>
              </a:rPr>
              <a:t>ЗАДАЧИ: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3611880" cy="11887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4251960"/>
            <a:ext cx="548640" cy="548640"/>
          </a:xfrm>
          <a:prstGeom prst="ellipse">
            <a:avLst/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702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89B3C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1605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Проанализировать рынок</a:t>
            </a:r>
          </a:p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юр. услуг для МСП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931920"/>
            <a:ext cx="3611880" cy="11887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34840" y="4251960"/>
            <a:ext cx="548640" cy="548640"/>
          </a:xfrm>
          <a:prstGeom prst="ellipse">
            <a:avLst/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2702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89B3C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1605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Спроектировать</a:t>
            </a:r>
          </a:p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архитектуру системы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931920"/>
            <a:ext cx="3611880" cy="11887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38160" y="4251960"/>
            <a:ext cx="548640" cy="548640"/>
          </a:xfrm>
          <a:prstGeom prst="ellipse">
            <a:avLst/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2702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89B3C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1605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Реализовать</a:t>
            </a:r>
          </a:p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AI-анализ документов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57800"/>
            <a:ext cx="3611880" cy="11887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548640" cy="548640"/>
          </a:xfrm>
          <a:prstGeom prst="ellipse">
            <a:avLst/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961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89B3C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48640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Интегрировать</a:t>
            </a:r>
          </a:p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внешние API (DaData)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5257800"/>
            <a:ext cx="3611880" cy="11887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34840" y="5577840"/>
            <a:ext cx="548640" cy="548640"/>
          </a:xfrm>
          <a:prstGeom prst="ellipse">
            <a:avLst/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55961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89B3C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548640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Разработать алгоритм</a:t>
            </a:r>
          </a:p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скоринга контрагентов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5257800"/>
            <a:ext cx="3611880" cy="11887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38160" y="5577840"/>
            <a:ext cx="548640" cy="548640"/>
          </a:xfrm>
          <a:prstGeom prst="ellipse">
            <a:avLst/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55961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89B3C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548640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Развернуть систему</a:t>
            </a:r>
          </a:p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в облачной инфраструктуре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4 из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03  МЕТОДОЛОГИЯ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Объект и предмет исследования, методы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37160" cy="1280160"/>
          </a:xfrm>
          <a:prstGeom prst="rect">
            <a:avLst/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2D6E"/>
                </a:solidFill>
                <a:latin typeface="Calibri"/>
              </a:rPr>
              <a:t>Объект исследования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Процессы цифровизации юридических услуг для субъектов малого и среднего предпринимательства в Российской Федерации.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137160" cy="1280160"/>
          </a:xfrm>
          <a:prstGeom prst="rect">
            <a:avLst/>
          </a:prstGeom>
          <a:solidFill>
            <a:srgbClr val="1A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4D9E"/>
                </a:solidFill>
                <a:latin typeface="Calibri"/>
              </a:rPr>
              <a:t>Предмет исследования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Программно-технические средства автоматизации правовой поддержки бизнеса с применением технологий искусственного интеллекта и обработки естественного языка.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137160" cy="12801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89B3C"/>
                </a:solidFill>
                <a:latin typeface="Calibri"/>
              </a:rPr>
              <a:t>Методы исследования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Системный анализ, сравнительный анализ существующих решений, проектирование информационных систем, прототипирование, программная инженерия, экспериментальное тестирование.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5 из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04  АНАЛИЗ ПРЕДМЕТНОЙ ОБЛАСТИ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Существующие решения и их недостатки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286000" cy="502920"/>
          </a:xfrm>
          <a:prstGeom prst="rect">
            <a:avLst/>
          </a:prstGeom>
          <a:solidFill>
            <a:srgbClr val="002D6E"/>
          </a:solidFill>
          <a:ln>
            <a:solidFill>
              <a:srgbClr val="002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89B3C"/>
                </a:solidFill>
                <a:latin typeface="Calibri"/>
              </a:rPr>
              <a:t>Платформа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2011680"/>
            <a:ext cx="3200400" cy="502920"/>
          </a:xfrm>
          <a:prstGeom prst="rect">
            <a:avLst/>
          </a:prstGeom>
          <a:solidFill>
            <a:srgbClr val="002D6E"/>
          </a:solidFill>
          <a:ln>
            <a:solidFill>
              <a:srgbClr val="002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057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89B3C"/>
                </a:solidFill>
                <a:latin typeface="Calibri"/>
              </a:rPr>
              <a:t>Функционал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011680"/>
            <a:ext cx="2743200" cy="502920"/>
          </a:xfrm>
          <a:prstGeom prst="rect">
            <a:avLst/>
          </a:prstGeom>
          <a:solidFill>
            <a:srgbClr val="002D6E"/>
          </a:solidFill>
          <a:ln>
            <a:solidFill>
              <a:srgbClr val="002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057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89B3C"/>
                </a:solidFill>
                <a:latin typeface="Calibri"/>
              </a:rPr>
              <a:t>Целевая аудитория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2011680"/>
            <a:ext cx="2834640" cy="502920"/>
          </a:xfrm>
          <a:prstGeom prst="rect">
            <a:avLst/>
          </a:prstGeom>
          <a:solidFill>
            <a:srgbClr val="002D6E"/>
          </a:solidFill>
          <a:ln>
            <a:solidFill>
              <a:srgbClr val="002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057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C89B3C"/>
                </a:solidFill>
                <a:latin typeface="Calibri"/>
              </a:rPr>
              <a:t>Недостатки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14600"/>
            <a:ext cx="2286000" cy="548640"/>
          </a:xfrm>
          <a:prstGeom prst="rect">
            <a:avLst/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603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Контур.Фокус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514600"/>
            <a:ext cx="3200400" cy="548640"/>
          </a:xfrm>
          <a:prstGeom prst="rect">
            <a:avLst/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2560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Проверка контрагентов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514600"/>
            <a:ext cx="2743200" cy="548640"/>
          </a:xfrm>
          <a:prstGeom prst="rect">
            <a:avLst/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5603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Корпоративный сегмент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2514600"/>
            <a:ext cx="2834640" cy="548640"/>
          </a:xfrm>
          <a:prstGeom prst="rect">
            <a:avLst/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25603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Высокая цена, нет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6324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1089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СПАРК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063240"/>
            <a:ext cx="3200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108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Бизнес-разведка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06324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31089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Крупные компании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3063240"/>
            <a:ext cx="28346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31089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Не для МСП, дорого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611880"/>
            <a:ext cx="2286000" cy="548640"/>
          </a:xfrm>
          <a:prstGeom prst="rect">
            <a:avLst/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576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КонсультантПлюс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611880"/>
            <a:ext cx="3200400" cy="548640"/>
          </a:xfrm>
          <a:prstGeom prst="rect">
            <a:avLst/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1800" y="36576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База законов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611880"/>
            <a:ext cx="2743200" cy="548640"/>
          </a:xfrm>
          <a:prstGeom prst="rect">
            <a:avLst/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6576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Юристы, бухгалтеры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3611880"/>
            <a:ext cx="2834640" cy="548640"/>
          </a:xfrm>
          <a:prstGeom prst="rect">
            <a:avLst/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5400" y="36576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Нет автоматизации задач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16052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206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Правовед.ru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4160520"/>
            <a:ext cx="32004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71800" y="4206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Онлайн-консультации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416052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42062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Физические лица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4160520"/>
            <a:ext cx="28346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5400" y="42062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Зависит от живого юриста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10000"/>
            </a:avLst>
          </a:prstGeom>
          <a:solidFill>
            <a:srgbClr val="FF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349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Вывод по результатам анализа: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На рынке отсутствует комплексное решение, объединяющее AI-анализ документов, проверку контрагентов и генерацию документов в одном доступном продукте для МСП.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6 из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05  АРХИТЕКТУРА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Трёхзвенная архитектура клиент-сервер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89B3C"/>
                </a:solidFill>
                <a:latin typeface="Calibri"/>
              </a:rPr>
              <a:t>СЛОЙ 1: ПРЕДСТАВЛЕНИЕ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Web-интерфейс (Next.js + React)  ·  Адаптивная вёрстка  ·  Авторизация пользователей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0" y="2880360"/>
            <a:ext cx="365760" cy="274320"/>
          </a:xfrm>
          <a:prstGeom prst="downArrow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11064240" cy="1554480"/>
          </a:xfrm>
          <a:prstGeom prst="roundRect">
            <a:avLst>
              <a:gd name="adj" fmla="val 10000"/>
            </a:avLst>
          </a:prstGeom>
          <a:solidFill>
            <a:srgbClr val="1A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89B3C"/>
                </a:solidFill>
                <a:latin typeface="Calibri"/>
              </a:rPr>
              <a:t>СЛОЙ 2: БИЗНЕС-ЛОГИКА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26060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2D6E"/>
                </a:solidFill>
                <a:latin typeface="Calibri"/>
              </a:rPr>
              <a:t>AI-анализ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C6B7C"/>
                </a:solidFill>
                <a:latin typeface="Calibri"/>
              </a:rPr>
              <a:t>Claude/Gemini</a:t>
            </a:r>
          </a:p>
          <a:p>
            <a:pPr algn="ctr"/>
            <a:r>
              <a:rPr sz="1000" b="0" i="0">
                <a:solidFill>
                  <a:srgbClr val="5C6B7C"/>
                </a:solidFill>
                <a:latin typeface="Calibri"/>
              </a:rPr>
              <a:t>Анализ документов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794760"/>
            <a:ext cx="26060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886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2D6E"/>
                </a:solidFill>
                <a:latin typeface="Calibri"/>
              </a:rPr>
              <a:t>Контрагенты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2519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C6B7C"/>
                </a:solidFill>
                <a:latin typeface="Calibri"/>
              </a:rPr>
              <a:t>Скоринг</a:t>
            </a:r>
          </a:p>
          <a:p>
            <a:pPr algn="ctr"/>
            <a:r>
              <a:rPr sz="1000" b="0" i="0">
                <a:solidFill>
                  <a:srgbClr val="5C6B7C"/>
                </a:solidFill>
                <a:latin typeface="Calibri"/>
              </a:rPr>
              <a:t>DaData/ЕГРЮЛ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794760"/>
            <a:ext cx="26060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886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2D6E"/>
                </a:solidFill>
                <a:latin typeface="Calibri"/>
              </a:rPr>
              <a:t>Генерация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2519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C6B7C"/>
                </a:solidFill>
                <a:latin typeface="Calibri"/>
              </a:rPr>
              <a:t>AI-шаблоны</a:t>
            </a:r>
          </a:p>
          <a:p>
            <a:pPr algn="ctr"/>
            <a:r>
              <a:rPr sz="1000" b="0" i="0">
                <a:solidFill>
                  <a:srgbClr val="5C6B7C"/>
                </a:solidFill>
                <a:latin typeface="Calibri"/>
              </a:rPr>
              <a:t>договоров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3794760"/>
            <a:ext cx="26060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3886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2D6E"/>
                </a:solidFill>
                <a:latin typeface="Calibri"/>
              </a:rPr>
              <a:t>База права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2519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C6B7C"/>
                </a:solidFill>
                <a:latin typeface="Calibri"/>
              </a:rPr>
              <a:t>ГК, ТК, НК</a:t>
            </a:r>
          </a:p>
          <a:p>
            <a:pPr algn="ctr"/>
            <a:r>
              <a:rPr sz="1000" b="0" i="0">
                <a:solidFill>
                  <a:srgbClr val="5C6B7C"/>
                </a:solidFill>
                <a:latin typeface="Calibri"/>
              </a:rPr>
              <a:t>Поиск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943600" y="4937760"/>
            <a:ext cx="365760" cy="274320"/>
          </a:xfrm>
          <a:prstGeom prst="downArrow">
            <a:avLst/>
          </a:prstGeom>
          <a:solidFill>
            <a:srgbClr val="C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10000"/>
            </a:avLst>
          </a:prstGeom>
          <a:solidFill>
            <a:srgbClr val="1A1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406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89B3C"/>
                </a:solidFill>
                <a:latin typeface="Calibri"/>
              </a:rPr>
              <a:t>СЛОЙ 3: ДАННЫЕ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PostgreSQL (Neon)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852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Внешние API: DaData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852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AI: Claude · Gemini · Groq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5852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Хранилище файлов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7 из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06  ТЕХНОЛОГИЧЕСКИЙ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Выбор технологий и его обоснование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5029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1031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Calibri"/>
              </a:rPr>
              <a:t>Next.js 16 (React 19, TypeScript)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5C6B7C"/>
                </a:solidFill>
                <a:latin typeface="Calibri"/>
              </a:rPr>
              <a:t>→ SSR, оптимизация SEO, типобезопасность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40"/>
            <a:ext cx="11064240" cy="5029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974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Calibri"/>
              </a:rPr>
              <a:t>Next.js API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97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5C6B7C"/>
                </a:solidFill>
                <a:latin typeface="Calibri"/>
              </a:rPr>
              <a:t>→ Единый язык TypeScript, simplicity, производительность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11064240" cy="5029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ORM / БД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2918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Calibri"/>
              </a:rPr>
              <a:t>Prisma + PostgreSQL (Neon)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91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5C6B7C"/>
                </a:solidFill>
                <a:latin typeface="Calibri"/>
              </a:rPr>
              <a:t>→ Типобезопасность запросов, serverless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94760"/>
            <a:ext cx="11064240" cy="5029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Аутентификация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8862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Calibri"/>
              </a:rPr>
              <a:t>NextAuth.js (JWT)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86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5C6B7C"/>
                </a:solidFill>
                <a:latin typeface="Calibri"/>
              </a:rPr>
              <a:t>→ Безопасность, поддержка OAuth провайдеров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89120"/>
            <a:ext cx="11064240" cy="5029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480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AI-движок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4805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Calibri"/>
              </a:rPr>
              <a:t>Claude 4.5, Gemini 2.0, Groq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4805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5C6B7C"/>
                </a:solidFill>
                <a:latin typeface="Calibri"/>
              </a:rPr>
              <a:t>→ Резервирование, качественный анализ юр. текстов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83480"/>
            <a:ext cx="11064240" cy="5029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74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Внешние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0749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Calibri"/>
              </a:rPr>
              <a:t>DaData (ЕГРЮЛ, ОКВЭД, фин. данные)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074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5C6B7C"/>
                </a:solidFill>
                <a:latin typeface="Calibri"/>
              </a:rPr>
              <a:t>→ Официальный источник данных по компаниям РФ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77840"/>
            <a:ext cx="11064240" cy="50292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669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Деплой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56692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F36"/>
                </a:solidFill>
                <a:latin typeface="Calibri"/>
              </a:rPr>
              <a:t>Vercel + GitHub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6692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5C6B7C"/>
                </a:solidFill>
                <a:latin typeface="Calibri"/>
              </a:rPr>
              <a:t>→ Continuous Deployment, CDN, edge functions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8 из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07  РЕАЛИЗАЦИЯ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Модуль AI-анализа документов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D6E"/>
                </a:solidFill>
                <a:latin typeface="Calibri"/>
              </a:rPr>
              <a:t>Принцип работы: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651760"/>
            <a:ext cx="228600" cy="228600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33472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06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Пользователь загружает документ (PDF, DOCX)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108960"/>
            <a:ext cx="228600" cy="228600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90672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63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Система извлекает текст через pdf-parse / mammoth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66160"/>
            <a:ext cx="228600" cy="228600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47872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20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Текст передаётся в LLM с экспертным промптом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023360"/>
            <a:ext cx="228600" cy="228600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05072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77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AI выявляет: риски, неоднозначные формулировки, отсутствие пунктов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480560"/>
            <a:ext cx="228600" cy="228600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62272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434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Привязка найденных моментов к статьям ГК РФ из базы знаний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937760"/>
            <a:ext cx="228600" cy="228600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19472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892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Формирование структурированного отчёта с рекомендациями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2011680"/>
            <a:ext cx="3840480" cy="429768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1945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Технические детали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743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Размер промпта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7432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C89B3C"/>
                </a:solidFill>
                <a:latin typeface="Calibri"/>
              </a:rPr>
              <a:t>~3 000 токенов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154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Модель 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1546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C89B3C"/>
                </a:solidFill>
                <a:latin typeface="Calibri"/>
              </a:rPr>
              <a:t>Claude 4.5 Sonnet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Резерв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5661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C89B3C"/>
                </a:solidFill>
                <a:latin typeface="Calibri"/>
              </a:rPr>
              <a:t>Gemini 2.0 / Groq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977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Среднее время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9776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C89B3C"/>
                </a:solidFill>
                <a:latin typeface="Calibri"/>
              </a:rPr>
              <a:t>~15 секунд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389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Точность анализа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43891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C89B3C"/>
                </a:solidFill>
                <a:latin typeface="Calibri"/>
              </a:rPr>
              <a:t>Верифицируется БД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Форматы файлов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48006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C89B3C"/>
                </a:solidFill>
                <a:latin typeface="Calibri"/>
              </a:rPr>
              <a:t>PDF, DOCX, TXT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212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Макс. размер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52120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C89B3C"/>
                </a:solidFill>
                <a:latin typeface="Calibri"/>
              </a:rPr>
              <a:t>10 МБ / документ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623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Контекст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56235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C89B3C"/>
                </a:solidFill>
                <a:latin typeface="Calibri"/>
              </a:rPr>
              <a:t>до 200К токенов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9 из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08  РЕАЛИЗАЦИЯ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Модуль проверки контрагентов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D6E"/>
                </a:solidFill>
                <a:latin typeface="Calibri"/>
              </a:rPr>
              <a:t>Источники данных: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06040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DaData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Официальные данные ЕГРЮЛ, статус, ОКВЭД, капитал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83280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ЕГРЮЛ ФНС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49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Резервный источник базовой информации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60520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КАД (картотека судов)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262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Активные и завершённые судебные дела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937760"/>
            <a:ext cx="5486400" cy="6858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292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ФССП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303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Информация о задолженностях, исполнительных производствах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011680"/>
            <a:ext cx="5212080" cy="429768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194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Алгоритм скоринга рисков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743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Возраст компании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89B3C"/>
                </a:solidFill>
                <a:latin typeface="Calibri"/>
              </a:rPr>
              <a:t>+/- 15 баллов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1089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Текущий статус (ЕГРЮЛ)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89B3C"/>
                </a:solidFill>
                <a:latin typeface="Calibri"/>
              </a:rPr>
              <a:t>+/- 30 баллов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474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Активные судебные дела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89B3C"/>
                </a:solidFill>
                <a:latin typeface="Calibri"/>
              </a:rPr>
              <a:t>- 5 за каждое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840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Завершённые проигрыши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840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89B3C"/>
                </a:solidFill>
                <a:latin typeface="Calibri"/>
              </a:rPr>
              <a:t>- 3 за каждое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06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Долги по ФССП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206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89B3C"/>
                </a:solidFill>
                <a:latin typeface="Calibri"/>
              </a:rPr>
              <a:t>- 20 баллов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572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Размер уставного капитала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572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89B3C"/>
                </a:solidFill>
                <a:latin typeface="Calibri"/>
              </a:rPr>
              <a:t>+/- 10 баллов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937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ОКВЭД (вид деятельности)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937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89B3C"/>
                </a:solidFill>
                <a:latin typeface="Calibri"/>
              </a:rPr>
              <a:t>± 5 баллов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303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Финансовые показатели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5303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89B3C"/>
                </a:solidFill>
                <a:latin typeface="Calibri"/>
              </a:rPr>
              <a:t>± 15 баллов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760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89B3C"/>
                </a:solidFill>
                <a:latin typeface="Calibri"/>
              </a:rPr>
              <a:t>Итоговая оценка: НИЗКИЙ / СРЕДНИЙ / ВЫСОКИЙ риск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10 из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09  РЕАЛИЗАЦИЯ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База права и генерация документов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532120" cy="42519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532120" cy="457200"/>
          </a:xfrm>
          <a:prstGeom prst="rect">
            <a:avLst/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89B3C"/>
                </a:solidFill>
                <a:latin typeface="Calibri"/>
              </a:rPr>
              <a:t>База российского права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9748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614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ГК РФ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76148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Гражданский кодекс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4612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1012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ТК РФ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3101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Трудовой кодекс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8587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НК РФ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85876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Налоговый кодекс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4340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0740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КоАП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4074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Об административных нарушениях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9204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560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ФЗ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95604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Федеральные законы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44068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0468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Постановления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50468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Правительства и Пленумов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011680"/>
            <a:ext cx="5532120" cy="42519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011680"/>
            <a:ext cx="5532120" cy="457200"/>
          </a:xfrm>
          <a:prstGeom prst="rect">
            <a:avLst/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2057400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89B3C"/>
                </a:solidFill>
                <a:latin typeface="Calibri"/>
              </a:rPr>
              <a:t>Генерация документов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269748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743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2D6E"/>
                </a:solidFill>
                <a:latin typeface="Calibri"/>
              </a:rPr>
              <a:t>Договор оказания услуг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743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C6B7C"/>
                </a:solidFill>
                <a:latin typeface="Calibri"/>
              </a:rPr>
              <a:t>Стандартный + кастомизация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324612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291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2D6E"/>
                </a:solidFill>
                <a:latin typeface="Calibri"/>
              </a:rPr>
              <a:t>Договор поставки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291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C6B7C"/>
                </a:solidFill>
                <a:latin typeface="Calibri"/>
              </a:rPr>
              <a:t>С учётом отрасли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379476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840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2D6E"/>
                </a:solidFill>
                <a:latin typeface="Calibri"/>
              </a:rPr>
              <a:t>Трудовой договор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40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C6B7C"/>
                </a:solidFill>
                <a:latin typeface="Calibri"/>
              </a:rPr>
              <a:t>По ТК РФ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434340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2D6E"/>
                </a:solidFill>
                <a:latin typeface="Calibri"/>
              </a:rPr>
              <a:t>Исковое заявление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389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C6B7C"/>
                </a:solidFill>
                <a:latin typeface="Calibri"/>
              </a:rPr>
              <a:t>Для арбитража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489204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2D6E"/>
                </a:solidFill>
                <a:latin typeface="Calibri"/>
              </a:rPr>
              <a:t>Претензионное письмо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C6B7C"/>
                </a:solidFill>
                <a:latin typeface="Calibri"/>
              </a:rPr>
              <a:t>Досудебное урегулирование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544068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5486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2D6E"/>
                </a:solidFill>
                <a:latin typeface="Calibri"/>
              </a:rPr>
              <a:t>Доверенность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5486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5C6B7C"/>
                </a:solidFill>
                <a:latin typeface="Calibri"/>
              </a:rPr>
              <a:t>Простая письменная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11 из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10  ДЕПЛОЙ И ИНФРАСТРУКТУРА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Развёртывание системы в облаке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02D6E"/>
                </a:solidFill>
                <a:latin typeface="Calibri"/>
              </a:rPr>
              <a:t>Облачная архитектура продакшена: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2D6E"/>
                </a:solidFill>
                <a:latin typeface="Calibri"/>
              </a:rP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002D6E"/>
                </a:solidFill>
                <a:latin typeface="Calibri"/>
              </a:rPr>
              <a:t>Версионный</a:t>
            </a:r>
          </a:p>
          <a:p>
            <a:pPr algn="ctr"/>
            <a:r>
              <a:rPr sz="1100" b="0" i="0">
                <a:solidFill>
                  <a:srgbClr val="002D6E"/>
                </a:solidFill>
                <a:latin typeface="Calibri"/>
              </a:rPr>
              <a:t>контроль кода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743200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971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C89B3C"/>
                </a:solidFill>
                <a:latin typeface="Calibri"/>
              </a:rPr>
              <a:t>Vercel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5204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Хостинг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Next.js приложения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743200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971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2D6E"/>
                </a:solidFill>
                <a:latin typeface="Calibri"/>
              </a:rPr>
              <a:t>Neon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5204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002D6E"/>
                </a:solidFill>
                <a:latin typeface="Calibri"/>
              </a:rPr>
              <a:t>PostgreSQL</a:t>
            </a:r>
          </a:p>
          <a:p>
            <a:pPr algn="ctr"/>
            <a:r>
              <a:rPr sz="1100" b="0" i="0">
                <a:solidFill>
                  <a:srgbClr val="002D6E"/>
                </a:solidFill>
                <a:latin typeface="Calibri"/>
              </a:rPr>
              <a:t>база данных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743200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971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2D6E"/>
                </a:solidFill>
                <a:latin typeface="Calibri"/>
              </a:rPr>
              <a:t>DaData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5204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002D6E"/>
                </a:solidFill>
                <a:latin typeface="Calibri"/>
              </a:rPr>
              <a:t>API</a:t>
            </a:r>
          </a:p>
          <a:p>
            <a:pPr algn="ctr"/>
            <a:r>
              <a:rPr sz="1100" b="0" i="0">
                <a:solidFill>
                  <a:srgbClr val="002D6E"/>
                </a:solidFill>
                <a:latin typeface="Calibri"/>
              </a:rPr>
              <a:t>данных компаний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743200"/>
            <a:ext cx="2011680" cy="146304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971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C89B3C"/>
                </a:solidFill>
                <a:latin typeface="Calibri"/>
              </a:rPr>
              <a:t>LLM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5204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AI-провайдеры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(Claude/Gemini)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  <a:latin typeface="Calibri"/>
              </a:rPr>
              <a:t>Производственные характеристики: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029200"/>
            <a:ext cx="2148840" cy="109728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663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C89B3C"/>
                </a:solidFill>
                <a:latin typeface="Calibri"/>
              </a:rPr>
              <a:t>99,9%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692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SLA доступности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5029200"/>
            <a:ext cx="2148840" cy="109728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51663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C89B3C"/>
                </a:solidFill>
                <a:latin typeface="Calibri"/>
              </a:rPr>
              <a:t>&lt; 200мс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6692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Время отклика 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9240" y="5029200"/>
            <a:ext cx="2148840" cy="109728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51663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C89B3C"/>
                </a:solidFill>
                <a:latin typeface="Calibri"/>
              </a:rPr>
              <a:t>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56692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Масштабирование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5029200"/>
            <a:ext cx="2148840" cy="109728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51663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C89B3C"/>
                </a:solidFill>
                <a:latin typeface="Calibri"/>
              </a:rPr>
              <a:t>HTTPS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6692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Шифрование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21240" y="5029200"/>
            <a:ext cx="2148840" cy="109728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21240" y="516636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C89B3C"/>
                </a:solidFill>
                <a:latin typeface="Calibri"/>
              </a:rPr>
              <a:t>CI/CD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56692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Деплой за 90 сек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12 из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11  РЕЗУЛЬТАТЫ И ДОСТИЖЕНИЯ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Что удалось реализовать в рамках работы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868680"/>
          </a:xfrm>
          <a:prstGeom prst="roundRect">
            <a:avLst>
              <a:gd name="adj" fmla="val 10000"/>
            </a:avLst>
          </a:prstGeom>
          <a:solidFill>
            <a:srgbClr val="109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  Разработан и развёрнут в продакшене работающий прототип AI-платформы правовой поддержки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3611880" cy="15087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37560"/>
            <a:ext cx="365760" cy="365760"/>
          </a:xfrm>
          <a:prstGeom prst="ellipse">
            <a:avLst/>
          </a:prstGeom>
          <a:solidFill>
            <a:srgbClr val="109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558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AI-анализ документов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Реализован модуль автоматического анализа договоров с выявлением юридических рисков и привязкой к статьям ГК РФ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108960"/>
            <a:ext cx="3611880" cy="15087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34840" y="3337560"/>
            <a:ext cx="365760" cy="365760"/>
          </a:xfrm>
          <a:prstGeom prst="ellipse">
            <a:avLst/>
          </a:prstGeom>
          <a:solidFill>
            <a:srgbClr val="109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3558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29184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Проверка контрагентов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0332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Интегрирован API DaData, разработан алгоритм скоринга на основе 8 факторов с 3 уровнями риска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3108960"/>
            <a:ext cx="3611880" cy="15087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3337560"/>
            <a:ext cx="365760" cy="365760"/>
          </a:xfrm>
          <a:prstGeom prst="ellipse">
            <a:avLst/>
          </a:prstGeom>
          <a:solidFill>
            <a:srgbClr val="109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3558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29184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База знаний по праву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70332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Создана структурированная БД ключевых статей кодексов РФ с полнотекстовым поиском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09160"/>
            <a:ext cx="3611880" cy="15087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4937760"/>
            <a:ext cx="365760" cy="365760"/>
          </a:xfrm>
          <a:prstGeom prst="ellipse">
            <a:avLst/>
          </a:prstGeom>
          <a:solidFill>
            <a:srgbClr val="109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56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89204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Генерация документов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0352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Реализована система AI-генерации договоров, исковых заявлений и претензий по запросу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4709160"/>
            <a:ext cx="3611880" cy="15087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34840" y="4937760"/>
            <a:ext cx="365760" cy="365760"/>
          </a:xfrm>
          <a:prstGeom prst="ellipse">
            <a:avLst/>
          </a:prstGeom>
          <a:solidFill>
            <a:srgbClr val="109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4956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89204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Аутентификация и тарифы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30352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JWT-авторизация, поддержка Google OAuth, разделение функционала по 3 тарифным планам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80" y="4709160"/>
            <a:ext cx="3611880" cy="150876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60" y="4937760"/>
            <a:ext cx="365760" cy="365760"/>
          </a:xfrm>
          <a:prstGeom prst="ellipse">
            <a:avLst/>
          </a:prstGeom>
          <a:solidFill>
            <a:srgbClr val="109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956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89204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Облачный деплой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5303520"/>
            <a:ext cx="32461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Приложение развёрнуто на Vercel с PostgreSQL базой Neon, настроен CI/CD через GitHub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13 из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12  СЛОЖНОСТИ РАЗРАБОТКИ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С какими проблемами пришлось столкнуться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09728" cy="7772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Точность AI-анализа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Проблема: Модели LLM могут ошибаться в специфических юридических вопросах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0996F"/>
                </a:solidFill>
                <a:latin typeface="Calibri"/>
              </a:rPr>
              <a:t>→ Решение: Расширенные промпты, верификация по БД, дисклеймеры для пользователя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70632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70632"/>
            <a:ext cx="109728" cy="7772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437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Различия SQLite и 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Проблема: Локальная разработка велась на SQLite, а продакшн использует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363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0996F"/>
                </a:solidFill>
                <a:latin typeface="Calibri"/>
              </a:rPr>
              <a:t>→ Решение: Унификация запросов через Prisma ORM, создание миграций для PG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21024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21024"/>
            <a:ext cx="109728" cy="7772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9417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Интеграция с DaData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8678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Проблема: Кэширование старых данных приводило к показу демо-данных вместо реальных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98678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0996F"/>
                </a:solidFill>
                <a:latin typeface="Calibri"/>
              </a:rPr>
              <a:t>→ Решение: Введение forceRefresh параметра, проверка флага dataSource в БД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71416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471416"/>
            <a:ext cx="109728" cy="7772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445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Производительность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3717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Проблема: Запросы к Claude занимали 10-15 секунд, что замедляло 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837176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0996F"/>
                </a:solidFill>
                <a:latin typeface="Calibri"/>
              </a:rPr>
              <a:t>→ Решение: Поддержка нескольких провайдеров (Groq для скорости), стриминг ответов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21808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21808"/>
            <a:ext cx="109728" cy="7772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2D6E"/>
                </a:solidFill>
                <a:latin typeface="Calibri"/>
              </a:rPr>
              <a:t>Ограничения бесплатных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87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C6B7C"/>
                </a:solidFill>
                <a:latin typeface="Calibri"/>
              </a:rPr>
              <a:t>Проблема: DaData имеет лимит запросов на бесплатном тарифе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68756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0996F"/>
                </a:solidFill>
                <a:latin typeface="Calibri"/>
              </a:rPr>
              <a:t>→ Решение: Кэширование результатов, обновление профилей раз в 30 дней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14 из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13  ПЕРСПЕКТИВЫ РАЗВИТИЯ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Дальнейшие направления работы над проектом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611880" cy="42062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611880" cy="640080"/>
          </a:xfrm>
          <a:prstGeom prst="rect">
            <a:avLst/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Краткосрочные (3-6 мес)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8036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Расширение базы права до 50+ статей основных кодексов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5760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Telegram-бот для быстрых юридических консультаций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3484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Поддержка распознавания сканированных документов (Vision 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57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2D6E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21208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Интеграция с электронной подписью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2011680"/>
            <a:ext cx="3611880" cy="42062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2011680"/>
            <a:ext cx="3611880" cy="640080"/>
          </a:xfrm>
          <a:prstGeom prst="rect">
            <a:avLst/>
          </a:prstGeom>
          <a:solidFill>
            <a:srgbClr val="1A4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214884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Среднесрочные (6-12 мес)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260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4D9E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88036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Mobile-приложение для iOS и Android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7033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4D9E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65760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API для интеграции в CRM/ERP системы (1С, Битрикс24)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480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4D9E"/>
                </a:solidFill>
                <a:latin typeface="Calibr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43484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Система коллаборации (комментарии, версии документов)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257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4D9E"/>
                </a:solidFill>
                <a:latin typeface="Calibr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21208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Расширенная аналитика и отчёты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2011680"/>
            <a:ext cx="3611880" cy="42062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solidFill>
              <a:srgbClr val="D5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80" y="2011680"/>
            <a:ext cx="3611880" cy="6400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214884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Долгосрочные (1-3 года)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9260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88036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Выход на рынки СНГ (Казахстан, Беларусь)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7033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65760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Голосовой AI-ассистент для устных консультаций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480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43484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Прогнозирование исхода судебных дел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5257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89B3C"/>
                </a:solidFill>
                <a:latin typeface="Calibri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5212080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F36"/>
                </a:solidFill>
                <a:latin typeface="Calibri"/>
              </a:rPr>
              <a:t>Корпоративные лицензии для юридических департаментов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15 из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73152" cy="82296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9B3C"/>
                </a:solidFill>
                <a:latin typeface="Calibri"/>
              </a:rPr>
              <a:t>14  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02D6E"/>
                </a:solidFill>
                <a:latin typeface="Calibri"/>
              </a:rPr>
              <a:t>Основные выводы по результатам работы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148840"/>
            <a:ext cx="274320" cy="274320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305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В ходе курсовой работы был проведён анализ рынка правовых услуг для МСП в России, выявлены ключевые проблемы и определена ниша для AI-решения.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788920"/>
            <a:ext cx="274320" cy="274320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70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Спроектирована и реализована трёхзвенная архитектура цифровой платформы с применением современного стека: Next.js 16, Prisma, PostgreSQL, NextAuth.js.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29000"/>
            <a:ext cx="274320" cy="274320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10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3756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Интегрированы три ведущих AI-провайдера (Claude, Gemini, Groq) и официальный API сервиса DaData для получения данных о российских юридических лицах.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069080"/>
            <a:ext cx="274320" cy="274320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507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97764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Разработан оригинальный алгоритм скоринга контрагентов на основе 8 факторов с тремя уровнями риска.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709160"/>
            <a:ext cx="274320" cy="274320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908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61772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36"/>
                </a:solidFill>
                <a:latin typeface="Calibri"/>
              </a:rPr>
              <a:t>Прототип успешно развёрнут в продакшен-окружении на платформе Vercel с облачной БД Neon и доступен по публичному URL.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002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C89B3C"/>
                </a:solidFill>
                <a:latin typeface="Calibri"/>
              </a:rPr>
              <a:t>Цели и задачи курсовой работы выполнены в полном объёме.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5D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C6B7C"/>
                </a:solidFill>
                <a:latin typeface="Calibri"/>
              </a:rPr>
              <a:t>Курсовая работа  |  МГИМО МИД России  |  Хадызов З.Д.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C6B7C"/>
                </a:solidFill>
                <a:latin typeface="Calibri"/>
              </a:rPr>
              <a:t>стр. 16 из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